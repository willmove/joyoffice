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charts/chart-1-3.xml" ContentType="application/vnd.openxmlformats-officedocument.drawingml.char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charts/chart-2-3.xml" ContentType="application/vnd.openxmlformats-officedocument.drawingml.chart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charts/chart-3-3.xml" ContentType="application/vnd.openxmlformats-officedocument.drawingml.chart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charts/chart-4-3.xml" ContentType="application/vnd.openxmlformats-officedocument.drawingml.chart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charts/chart-5-3.xml" ContentType="application/vnd.openxmlformats-officedocument.drawingml.chart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<?xml version="1.0" encoding="UTF-8"?><Relationships xmlns="http://schemas.openxmlformats.org/package/2006/relationships"><Relationship Id="office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master"/>
  </p:sldMasterIdLst>
  <p:sldIdLst>
    <p:sldId id="256" r:id="slide1"/>
    <p:sldId id="257" r:id="slide2"/>
    <p:sldId id="258" r:id="slide3"/>
    <p:sldId id="259" r:id="slide4"/>
    <p:sldId id="260" r:id="slide5"/>
    <p:sldId id="261" r:id="slide6"/>
    <p:sldId id="262" r:id="slide7"/>
  </p:sldIdLst>
  <p:sldSz cx="12192000" cy="6858000"/>
  <p:notesSz cx="6858000" cy="9144000"/>
</p:presentation>
</file>

<file path=ppt/_rels/presentation.xml.rels><?xml version="1.0" encoding="UTF-8"?><Relationships xmlns="http://schemas.openxmlformats.org/package/2006/relationships"><Relationship Id="master" Type="http://schemas.openxmlformats.org/officeDocument/2006/relationships/slideMaster" Target="slideMasters/slideMaster1.xml"/><Relationship Id="snapshot" Type="http://schemas.openxmlformats.org/officeDocument/2006/relationships/customXml" Target="../customXml/joydeck.xml"/><Relationship Id="slide1" Type="http://schemas.openxmlformats.org/officeDocument/2006/relationships/slide" Target="slides/slide1.xml"/><Relationship Id="slide2" Type="http://schemas.openxmlformats.org/officeDocument/2006/relationships/slide" Target="slides/slide2.xml"/><Relationship Id="slide3" Type="http://schemas.openxmlformats.org/officeDocument/2006/relationships/slide" Target="slides/slide3.xml"/><Relationship Id="slide4" Type="http://schemas.openxmlformats.org/officeDocument/2006/relationships/slide" Target="slides/slide4.xml"/><Relationship Id="slide5" Type="http://schemas.openxmlformats.org/officeDocument/2006/relationships/slide" Target="slides/slide5.xml"/><Relationship Id="slide6" Type="http://schemas.openxmlformats.org/officeDocument/2006/relationships/slide" Target="slides/slide6.xml"/><Relationship Id="slide7" Type="http://schemas.openxmlformats.org/officeDocument/2006/relationships/slide" Target="slides/slide7.xml"/></Relationships>
</file>

<file path=ppt/charts/_rels/chart-1-3.xml.rels><Relationships xmlns="http://schemas.openxmlformats.org/package/2006/relationships"><Relationship Id="workbook" Type="http://schemas.openxmlformats.org/officeDocument/2006/relationships/package" Target="../embeddings/chart-1-3.xlsx"/></Relationships>
</file>

<file path=ppt/charts/_rels/chart-2-3.xml.rels><Relationships xmlns="http://schemas.openxmlformats.org/package/2006/relationships"><Relationship Id="workbook" Type="http://schemas.openxmlformats.org/officeDocument/2006/relationships/package" Target="../embeddings/chart-2-3.xlsx"/></Relationships>
</file>

<file path=ppt/charts/_rels/chart-3-3.xml.rels><Relationships xmlns="http://schemas.openxmlformats.org/package/2006/relationships"><Relationship Id="workbook" Type="http://schemas.openxmlformats.org/officeDocument/2006/relationships/package" Target="../embeddings/chart-3-3.xlsx"/></Relationships>
</file>

<file path=ppt/charts/_rels/chart-4-3.xml.rels><Relationships xmlns="http://schemas.openxmlformats.org/package/2006/relationships"><Relationship Id="workbook" Type="http://schemas.openxmlformats.org/officeDocument/2006/relationships/package" Target="../embeddings/chart-4-3.xlsx"/></Relationships>
</file>

<file path=ppt/charts/_rels/chart-5-3.xml.rels><Relationships xmlns="http://schemas.openxmlformats.org/package/2006/relationships"><Relationship Id="workbook" Type="http://schemas.openxmlformats.org/officeDocument/2006/relationships/package" Target="../embeddings/chart-5-3.xlsx"/></Relationships>
</file>

<file path=ppt/charts/chart-1-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4472c4"/>
            </a:solidFill>
            <a:ln w="25400">
              <a:solidFill>
                <a:srgbClr val="4472c4"/>
              </a:solidFill>
            </a:ln>
          </c:spPr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72</c:v>
                </c:pt>
                <c:pt idx="3">
                  <c:v>91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</c:dLbls>
        <c:axId val="100"/>
        <c:axId val="200"/>
      </c:barChart>
      <c:catAx>
        <c:axId val="1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externalData r:id="workbook">
    <c:autoUpdate val="0"/>
  </c:externalData>
</c:chartSpace>
</file>

<file path=ppt/charts/chart-2-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4472c4"/>
            </a:solidFill>
            <a:ln w="25400">
              <a:solidFill>
                <a:srgbClr val="4472c4"/>
              </a:solidFill>
            </a:ln>
          </c:spPr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72</c:v>
                </c:pt>
                <c:pt idx="3">
                  <c:v>91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</c:dLbls>
        <c:axId val="100"/>
        <c:axId val="200"/>
      </c:barChart>
      <c:catAx>
        <c:axId val="1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b"/>
        <c:majorGridlines/>
        <c:numFmt formatCode="General" sourceLinked="1"/>
        <c:majorTickMark val="none"/>
        <c:minorTickMark val="none"/>
        <c:tickLblPos val="nextTo"/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externalData r:id="workbook">
    <c:autoUpdate val="0"/>
  </c:externalData>
</c:chartSpace>
</file>

<file path=ppt/charts/chart-3-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/>
      <c:line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4472c4"/>
            </a:solidFill>
            <a:ln w="25400">
              <a:solidFill>
                <a:srgbClr val="4472c4"/>
              </a:solidFill>
            </a:ln>
          </c:spPr>
          <c:marker>
            <c:symbol val="circle"/>
            <c:size val="5"/>
          </c:marker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72</c:v>
                </c:pt>
                <c:pt idx="3">
                  <c:v>91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</c:dLbls>
        <c:axId val="100"/>
        <c:axId val="200"/>
      </c:lineChart>
      <c:catAx>
        <c:axId val="1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externalData r:id="workbook">
    <c:autoUpdate val="0"/>
  </c:externalData>
</c:chartSpace>
</file>

<file path=ppt/charts/chart-4-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4472c4"/>
            </a:solidFill>
            <a:ln w="25400">
              <a:solidFill>
                <a:srgbClr val="4472c4"/>
              </a:solidFill>
            </a:ln>
          </c:spPr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72</c:v>
                </c:pt>
                <c:pt idx="3">
                  <c:v>91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</c:dLbls>
      </c:pieChart>
    </c:plotArea>
    <c:legend>
      <c:legendPos val="b"/>
      <c:layout/>
      <c:overlay val="0"/>
    </c:legend>
    <c:plotVisOnly val="1"/>
    <c:dispBlanksAs val="gap"/>
    <c:showDLblsOverMax val="0"/>
  </c:chart>
  <c:externalData r:id="workbook">
    <c:autoUpdate val="0"/>
  </c:externalData>
</c:chartSpace>
</file>

<file path=ppt/charts/chart-5-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/>
      <c:scatterChart>
        <c:scatte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4472c4"/>
            </a:solidFill>
            <a:ln w="25400">
              <a:solidFill>
                <a:srgbClr val="4472c4"/>
              </a:solidFill>
            </a:ln>
          </c:spPr>
          <c:marker>
            <c:symbol val="circle"/>
            <c:size val="5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3</c:v>
                </c:pt>
                <c:pt idx="2">
                  <c:v>7</c:v>
                </c:pt>
                <c:pt idx="3">
                  <c:v>12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72</c:v>
                </c:pt>
                <c:pt idx="3">
                  <c:v>91</c:v>
                </c:pt>
              </c:numCache>
            </c:numRef>
          </c:yVal>
          <c:smooth val="0"/>
        </c:ser>
        <c:dLbls>
          <c:showLegendKey val="0"/>
          <c:showVal val="1"/>
          <c:showCatName val="0"/>
          <c:showSerName val="0"/>
          <c:showPercent val="0"/>
        </c:dLbls>
        <c:axId val="100"/>
        <c:axId val="200"/>
      </c:scatterChart>
      <c:valAx>
        <c:axId val="100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rPr lang="zh-CN"/>
                  <a:t>投入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crossAx val="200"/>
        <c:crosses val="autoZero"/>
        <c:crossBetween val="between"/>
      </c:valAx>
      <c:valAx>
        <c:axId val="200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externalData r:id="workbook">
    <c:autoUpdate val="0"/>
  </c:externalData>
</c:chartSpace>
</file>

<file path=ppt/notesSlides/_rels/notesSlide1.xml.rels><?xml version="1.0" encoding="UTF-8"?><Relationships xmlns="http://schemas.openxmlformats.org/package/2006/relationships"><Relationship Id="slide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slide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slide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slide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slide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slide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slide" Type="http://schemas.openxmlformats.org/officeDocument/2006/relationships/slide" Target="../slides/slide7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>
          <a:xfrm rot="0">
            <a:off x="1016000" y="101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7b6a7">
                    <a:alpha val="100000"/>
                  </a:srgbClr>
                </a:solidFill>
                <a:latin typeface="sans-serif"/>
                <a:ea typeface="sans-serif"/>
              </a:rPr>
              <a:t xml:space="preserve">私密演讲者备注：第1页，仅在演示者窗口可见。</a:t>
            </a:r>
            <a:endParaRPr sz="2400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>
          <a:xfrm rot="0">
            <a:off x="1016000" y="101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7b6a7">
                    <a:alpha val="100000"/>
                  </a:srgbClr>
                </a:solidFill>
                <a:latin typeface="sans-serif"/>
                <a:ea typeface="sans-serif"/>
              </a:rPr>
              <a:t xml:space="preserve">私密演讲者备注：第2页，仅在演示者窗口可见。</a:t>
            </a:r>
            <a:endParaRPr sz="2400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>
          <a:xfrm rot="0">
            <a:off x="1016000" y="101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7b6a7">
                    <a:alpha val="100000"/>
                  </a:srgbClr>
                </a:solidFill>
                <a:latin typeface="sans-serif"/>
                <a:ea typeface="sans-serif"/>
              </a:rPr>
              <a:t xml:space="preserve">私密演讲者备注：第3页，仅在演示者窗口可见。</a:t>
            </a:r>
            <a:endParaRPr sz="2400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>
          <a:xfrm rot="0">
            <a:off x="1016000" y="101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7b6a7">
                    <a:alpha val="100000"/>
                  </a:srgbClr>
                </a:solidFill>
                <a:latin typeface="sans-serif"/>
                <a:ea typeface="sans-serif"/>
              </a:rPr>
              <a:t xml:space="preserve">私密演讲者备注：第4页，仅在演示者窗口可见。</a:t>
            </a:r>
            <a:endParaRPr sz="2400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>
          <a:xfrm rot="0">
            <a:off x="1016000" y="101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7b6a7">
                    <a:alpha val="100000"/>
                  </a:srgbClr>
                </a:solidFill>
                <a:latin typeface="sans-serif"/>
                <a:ea typeface="sans-serif"/>
              </a:rPr>
              <a:t xml:space="preserve">私密演讲者备注：第5页，仅在演示者窗口可见。</a:t>
            </a:r>
            <a:endParaRPr sz="2400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>
          <a:xfrm rot="0">
            <a:off x="1016000" y="101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7b6a7">
                    <a:alpha val="100000"/>
                  </a:srgbClr>
                </a:solidFill>
                <a:latin typeface="sans-serif"/>
                <a:ea typeface="sans-serif"/>
              </a:rPr>
              <a:t xml:space="preserve">私密演讲者备注：第6页，仅在演示者窗口可见。</a:t>
            </a:r>
            <a:endParaRPr sz="2400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>
          <a:xfrm rot="0">
            <a:off x="1016000" y="1016000"/>
            <a:ext cx="3048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2400" b="0" i="0">
                <a:solidFill>
                  <a:srgbClr val="27b6a7">
                    <a:alpha val="100000"/>
                  </a:srgbClr>
                </a:solidFill>
                <a:latin typeface="sans-serif"/>
                <a:ea typeface="sans-serif"/>
              </a:rPr>
              <a:t xml:space="preserve">私密演讲者备注：第7页，仅在演示者窗口可见。</a:t>
            </a:r>
            <a:endParaRPr sz="2400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>
  <p:cSld name="JoyDeck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layout" Type="http://schemas.openxmlformats.org/officeDocument/2006/relationships/slideLayout" Target="../slideLayouts/slideLayout1.xml"/><Relationship Id="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layout" Type="http://schemas.openxmlformats.org/officeDocument/2006/relationships/slideLayout" Target="../slideLayouts/slideLayout1.xml"/><Relationship Id="chart-1-3" Type="http://schemas.openxmlformats.org/officeDocument/2006/relationships/chart" Target="../charts/chart-1-3.xml"/><Relationship Id="notes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layout" Type="http://schemas.openxmlformats.org/officeDocument/2006/relationships/slideLayout" Target="../slideLayouts/slideLayout1.xml"/><Relationship Id="chart-2-3" Type="http://schemas.openxmlformats.org/officeDocument/2006/relationships/chart" Target="../charts/chart-2-3.xml"/><Relationship Id="notes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layout" Type="http://schemas.openxmlformats.org/officeDocument/2006/relationships/slideLayout" Target="../slideLayouts/slideLayout1.xml"/><Relationship Id="chart-3-3" Type="http://schemas.openxmlformats.org/officeDocument/2006/relationships/chart" Target="../charts/chart-3-3.xml"/><Relationship Id="notes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layout" Type="http://schemas.openxmlformats.org/officeDocument/2006/relationships/slideLayout" Target="../slideLayouts/slideLayout1.xml"/><Relationship Id="chart-4-3" Type="http://schemas.openxmlformats.org/officeDocument/2006/relationships/chart" Target="../charts/chart-4-3.xml"/><Relationship Id="notes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layout" Type="http://schemas.openxmlformats.org/officeDocument/2006/relationships/slideLayout" Target="../slideLayouts/slideLayout1.xml"/><Relationship Id="chart-5-3" Type="http://schemas.openxmlformats.org/officeDocument/2006/relationships/chart" Target="../charts/chart-5-3.xml"/><Relationship Id="notes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layout" Type="http://schemas.openxmlformats.org/officeDocument/2006/relationships/slideLayout" Target="../slideLayouts/slideLayout1.xml"/><Relationship Id="notes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layout" Type="http://schemas.openxmlformats.org/officeDocument/2006/relationships/slideLayout" Target="../slideLayouts/slideLayout1.xml"/><Relationship Id="notes" Type="http://schemas.openxmlformats.org/officeDocument/2006/relationships/notesSlide" Target="../notesSlides/notesSlide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 name="季度业务表现 · 柱形图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0"/>
          <p:cNvSpPr txBox="1"/>
          <p:nvPr/>
        </p:nvSpPr>
        <p:spPr>
          <a:xfrm rot="0">
            <a:off x="685800" y="406400"/>
            <a:ext cx="10795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3000" b="0" i="0">
                <a:solidFill>
                  <a:srgbClr val="20334d">
                    <a:alpha val="100000"/>
                  </a:srgbClr>
                </a:solidFill>
                <a:latin typeface="sans-serif"/>
                <a:ea typeface="sans-serif"/>
              </a:rPr>
              <a:t xml:space="preserve">季度业务表现 · 柱形图</a:t>
            </a:r>
            <a:endParaRPr sz="3000"/>
          </a:p>
        </p:txBody>
      </p:sp>
      <p:graphicFrame>
        <p:nvGraphicFramePr>
          <p:cNvPr id="3" name="content-0"/>
          <p:cNvGraphicFramePr/>
          <p:nvPr/>
        </p:nvGraphicFramePr>
        <p:xfrm rot="0">
          <a:off x="939800" y="1549400"/>
          <a:ext cx="103124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chart-1-3"/>
          </a:graphicData>
        </a:graphic>
      </p:graphicFrame>
      <p:sp>
        <p:nvSpPr>
          <p:cNvPr id="4" name="footer-0"/>
          <p:cNvSpPr txBox="1"/>
          <p:nvPr/>
        </p:nvSpPr>
        <p:spPr>
          <a:xfrm rot="0">
            <a:off x="685800" y="6223000"/>
            <a:ext cx="1079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1300" b="0" i="0">
                <a:solidFill>
                  <a:srgbClr val="777777">
                    <a:alpha val="100000"/>
                  </a:srgbClr>
                </a:solidFill>
                <a:latin typeface="sans-serif"/>
                <a:ea typeface="sans-serif"/>
              </a:rPr>
              <a:t xml:space="preserve">FY 2026    /    JoyDeck 原创开发验证样例</a:t>
            </a:r>
            <a:endParaRPr sz="13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00" fill="hold">
                      <p:stCondLst>
                        <p:cond delay="indefinite"/>
                      </p:stCondLst>
                      <p:childTnLst>
                        <p:par>
                          <p:cTn id="300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nodeType="clickEffect" fill="hold" repeatCount="1000" autoRev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!-- independent public import --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 name="季度业务表现 · 条形图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"/>
          <p:cNvSpPr txBox="1"/>
          <p:nvPr/>
        </p:nvSpPr>
        <p:spPr>
          <a:xfrm rot="0">
            <a:off x="685800" y="406400"/>
            <a:ext cx="10795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3000" b="0" i="0">
                <a:solidFill>
                  <a:srgbClr val="20334d">
                    <a:alpha val="100000"/>
                  </a:srgbClr>
                </a:solidFill>
                <a:latin typeface="sans-serif"/>
                <a:ea typeface="sans-serif"/>
              </a:rPr>
              <a:t xml:space="preserve">季度业务表现 · 条形图</a:t>
            </a:r>
            <a:endParaRPr sz="3000"/>
          </a:p>
        </p:txBody>
      </p:sp>
      <p:graphicFrame>
        <p:nvGraphicFramePr>
          <p:cNvPr id="3" name="content-1"/>
          <p:cNvGraphicFramePr/>
          <p:nvPr/>
        </p:nvGraphicFramePr>
        <p:xfrm rot="0">
          <a:off x="939800" y="1549400"/>
          <a:ext cx="103124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chart-2-3"/>
          </a:graphicData>
        </a:graphic>
      </p:graphicFrame>
      <p:sp>
        <p:nvSpPr>
          <p:cNvPr id="4" name="footer-1"/>
          <p:cNvSpPr txBox="1"/>
          <p:nvPr/>
        </p:nvSpPr>
        <p:spPr>
          <a:xfrm rot="0">
            <a:off x="685800" y="6223000"/>
            <a:ext cx="1079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1300" b="0" i="0">
                <a:solidFill>
                  <a:srgbClr val="777777">
                    <a:alpha val="100000"/>
                  </a:srgbClr>
                </a:solidFill>
                <a:latin typeface="sans-serif"/>
                <a:ea typeface="sans-serif"/>
              </a:rPr>
              <a:t xml:space="preserve">FY 2026    /    JoyDeck 原创开发验证样例</a:t>
            </a:r>
            <a:endParaRPr sz="1300"/>
          </a:p>
        </p:txBody>
      </p:sp>
    </p:spTree>
  </p:cSld>
  <p:clrMapOvr>
    <a:masterClrMapping/>
  </p:clrMapOvr>
  <p:transition xmlns:p14="http://schemas.microsoft.com/office/powerpoint/2010/main" spd="med" p14:dur="600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00" fill="hold">
                      <p:stCondLst>
                        <p:cond delay="indefinite"/>
                      </p:stCondLst>
                      <p:childTnLst>
                        <p:par>
                          <p:cTn id="300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nodeType="clickEffect" fill="hold" repeatCount="1000" autoRev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 name="季度业务表现 · 折线图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2"/>
          <p:cNvSpPr txBox="1"/>
          <p:nvPr/>
        </p:nvSpPr>
        <p:spPr>
          <a:xfrm rot="0">
            <a:off x="685800" y="406400"/>
            <a:ext cx="10795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3000" b="0" i="0">
                <a:solidFill>
                  <a:srgbClr val="20334d">
                    <a:alpha val="100000"/>
                  </a:srgbClr>
                </a:solidFill>
                <a:latin typeface="sans-serif"/>
                <a:ea typeface="sans-serif"/>
              </a:rPr>
              <a:t xml:space="preserve">季度业务表现 · 折线图</a:t>
            </a:r>
            <a:endParaRPr sz="3000"/>
          </a:p>
        </p:txBody>
      </p:sp>
      <p:graphicFrame>
        <p:nvGraphicFramePr>
          <p:cNvPr id="3" name="content-2"/>
          <p:cNvGraphicFramePr/>
          <p:nvPr/>
        </p:nvGraphicFramePr>
        <p:xfrm rot="0">
          <a:off x="939800" y="1549400"/>
          <a:ext cx="103124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chart-3-3"/>
          </a:graphicData>
        </a:graphic>
      </p:graphicFrame>
      <p:sp>
        <p:nvSpPr>
          <p:cNvPr id="4" name="footer-2"/>
          <p:cNvSpPr txBox="1"/>
          <p:nvPr/>
        </p:nvSpPr>
        <p:spPr>
          <a:xfrm rot="0">
            <a:off x="685800" y="6223000"/>
            <a:ext cx="1079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1300" b="0" i="0">
                <a:solidFill>
                  <a:srgbClr val="777777">
                    <a:alpha val="100000"/>
                  </a:srgbClr>
                </a:solidFill>
                <a:latin typeface="sans-serif"/>
                <a:ea typeface="sans-serif"/>
              </a:rPr>
              <a:t xml:space="preserve">FY 2026    /    JoyDeck 原创开发验证样例</a:t>
            </a:r>
            <a:endParaRPr sz="1300"/>
          </a:p>
        </p:txBody>
      </p:sp>
    </p:spTree>
  </p:cSld>
  <p:clrMapOvr>
    <a:masterClrMapping/>
  </p:clrMapOvr>
  <p:transition xmlns:p14="http://schemas.microsoft.com/office/powerpoint/2010/main" spd="med" p14:dur="600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00" fill="hold">
                      <p:stCondLst>
                        <p:cond delay="indefinite"/>
                      </p:stCondLst>
                      <p:childTnLst>
                        <p:par>
                          <p:cTn id="300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nodeType="clickEffect" fill="hold" repeatCount="1000" autoRev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 name="季度业务表现 · 饼图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3"/>
          <p:cNvSpPr txBox="1"/>
          <p:nvPr/>
        </p:nvSpPr>
        <p:spPr>
          <a:xfrm rot="0">
            <a:off x="685800" y="406400"/>
            <a:ext cx="10795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3000" b="0" i="0">
                <a:solidFill>
                  <a:srgbClr val="20334d">
                    <a:alpha val="100000"/>
                  </a:srgbClr>
                </a:solidFill>
                <a:latin typeface="sans-serif"/>
                <a:ea typeface="sans-serif"/>
              </a:rPr>
              <a:t xml:space="preserve">季度业务表现 · 饼图</a:t>
            </a:r>
            <a:endParaRPr sz="3000"/>
          </a:p>
        </p:txBody>
      </p:sp>
      <p:graphicFrame>
        <p:nvGraphicFramePr>
          <p:cNvPr id="3" name="content-3"/>
          <p:cNvGraphicFramePr/>
          <p:nvPr/>
        </p:nvGraphicFramePr>
        <p:xfrm rot="0">
          <a:off x="939800" y="1549400"/>
          <a:ext cx="103124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chart-4-3"/>
          </a:graphicData>
        </a:graphic>
      </p:graphicFrame>
      <p:sp>
        <p:nvSpPr>
          <p:cNvPr id="4" name="footer-3"/>
          <p:cNvSpPr txBox="1"/>
          <p:nvPr/>
        </p:nvSpPr>
        <p:spPr>
          <a:xfrm rot="0">
            <a:off x="685800" y="6223000"/>
            <a:ext cx="1079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1300" b="0" i="0">
                <a:solidFill>
                  <a:srgbClr val="777777">
                    <a:alpha val="100000"/>
                  </a:srgbClr>
                </a:solidFill>
                <a:latin typeface="sans-serif"/>
                <a:ea typeface="sans-serif"/>
              </a:rPr>
              <a:t xml:space="preserve">FY 2026    /    JoyDeck 原创开发验证样例</a:t>
            </a:r>
            <a:endParaRPr sz="1300"/>
          </a:p>
        </p:txBody>
      </p:sp>
    </p:spTree>
  </p:cSld>
  <p:clrMapOvr>
    <a:masterClrMapping/>
  </p:clrMapOvr>
  <p:transition xmlns:p14="http://schemas.microsoft.com/office/powerpoint/2010/main" spd="med" p14:dur="600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00" fill="hold">
                      <p:stCondLst>
                        <p:cond delay="indefinite"/>
                      </p:stCondLst>
                      <p:childTnLst>
                        <p:par>
                          <p:cTn id="300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nodeType="clickEffect" fill="hold" repeatCount="1000" autoRev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 name="季度业务表现 · 散点图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4"/>
          <p:cNvSpPr txBox="1"/>
          <p:nvPr/>
        </p:nvSpPr>
        <p:spPr>
          <a:xfrm rot="0">
            <a:off x="685800" y="406400"/>
            <a:ext cx="10795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3000" b="0" i="0">
                <a:solidFill>
                  <a:srgbClr val="20334d">
                    <a:alpha val="100000"/>
                  </a:srgbClr>
                </a:solidFill>
                <a:latin typeface="sans-serif"/>
                <a:ea typeface="sans-serif"/>
              </a:rPr>
              <a:t xml:space="preserve">季度业务表现 · 散点图</a:t>
            </a:r>
            <a:endParaRPr sz="3000"/>
          </a:p>
        </p:txBody>
      </p:sp>
      <p:graphicFrame>
        <p:nvGraphicFramePr>
          <p:cNvPr id="3" name="content-4"/>
          <p:cNvGraphicFramePr/>
          <p:nvPr/>
        </p:nvGraphicFramePr>
        <p:xfrm rot="0">
          <a:off x="939800" y="1549400"/>
          <a:ext cx="103124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chart-5-3"/>
          </a:graphicData>
        </a:graphic>
      </p:graphicFrame>
      <p:sp>
        <p:nvSpPr>
          <p:cNvPr id="4" name="footer-4"/>
          <p:cNvSpPr txBox="1"/>
          <p:nvPr/>
        </p:nvSpPr>
        <p:spPr>
          <a:xfrm rot="0">
            <a:off x="685800" y="6223000"/>
            <a:ext cx="1079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1300" b="0" i="0">
                <a:solidFill>
                  <a:srgbClr val="777777">
                    <a:alpha val="100000"/>
                  </a:srgbClr>
                </a:solidFill>
                <a:latin typeface="sans-serif"/>
                <a:ea typeface="sans-serif"/>
              </a:rPr>
              <a:t xml:space="preserve">FY 2026    /    JoyDeck 原创开发验证样例</a:t>
            </a:r>
            <a:endParaRPr sz="1300"/>
          </a:p>
        </p:txBody>
      </p:sp>
    </p:spTree>
  </p:cSld>
  <p:clrMapOvr>
    <a:masterClrMapping/>
  </p:clrMapOvr>
  <p:transition xmlns:p14="http://schemas.microsoft.com/office/powerpoint/2010/main" spd="med" p14:dur="600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00" fill="hold">
                      <p:stCondLst>
                        <p:cond delay="indefinite"/>
                      </p:stCondLst>
                      <p:childTnLst>
                        <p:par>
                          <p:cTn id="300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nodeType="clickEffect" fill="hold" repeatCount="1000" autoRev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 name="从计划到成果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5"/>
          <p:cNvSpPr txBox="1"/>
          <p:nvPr/>
        </p:nvSpPr>
        <p:spPr>
          <a:xfrm rot="0">
            <a:off x="685800" y="406400"/>
            <a:ext cx="10795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3000" b="0" i="0">
                <a:solidFill>
                  <a:srgbClr val="20334d">
                    <a:alpha val="100000"/>
                  </a:srgbClr>
                </a:solidFill>
                <a:latin typeface="sans-serif"/>
                <a:ea typeface="sans-serif"/>
              </a:rPr>
              <a:t xml:space="preserve">从计划到成果</a:t>
            </a:r>
            <a:endParaRPr sz="3000"/>
          </a:p>
        </p:txBody>
      </p:sp>
      <p:grpSp>
        <p:nvGrpSpPr>
          <p:cNvPr id="3" name="content-5"/>
          <p:cNvGrpSpPr/>
          <p:nvPr/>
        </p:nvGrpSpPr>
        <p:grpSpPr>
          <a:xfrm rot="0">
            <a:off x="939800" y="1549400"/>
            <a:ext cx="10312400" cy="4191000"/>
            <a:chOff x="939800" y="1549400"/>
            <a:chExt cx="10312400" cy="4191000"/>
          </a:xfrm>
        </p:grpSpPr>
        <p:sp>
          <p:nvSpPr>
            <p:cNvPr id="1000768" name="content-5:node:0"/>
            <p:cNvSpPr txBox="0"/>
            <p:nvPr/>
          </p:nvSpPr>
          <p:spPr>
            <a:xfrm rot="0">
              <a:off x="939800" y="2597150"/>
              <a:ext cx="2921847" cy="2095500"/>
            </a:xfrm>
            <a:prstGeom prst="roundRect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</p:sp>
        <p:sp>
          <p:nvSpPr>
            <p:cNvPr id="1000769" name="content-5:text:0"/>
            <p:cNvSpPr txBox="1"/>
            <p:nvPr/>
          </p:nvSpPr>
          <p:spPr>
            <a:xfrm rot="0">
              <a:off x="1016000" y="3121025"/>
              <a:ext cx="2769447" cy="1466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/>
            <a:lstStyle/>
            <a:p>
              <a:pPr>
                <a:lnSpc>
                  <a:spcPct val="130000"/>
                </a:lnSpc>
              </a:pPr>
              <a:r>
                <a:rPr lang="zh-CN" sz="2400" b="0" i="0">
                  <a:solidFill>
                    <a:srgbClr val="ffffff">
                      <a:alpha val="100000"/>
                    </a:srgbClr>
                  </a:solidFill>
                  <a:latin typeface="sans-serif"/>
                  <a:ea typeface="sans-serif"/>
                </a:rPr>
                <a:t xml:space="preserve">制定计划</a:t>
              </a:r>
              <a:endParaRPr sz="2400"/>
            </a:p>
          </p:txBody>
        </p:sp>
        <p:sp>
          <p:nvSpPr>
            <p:cNvPr id="1000770" name="content-5:arrow:0"/>
            <p:cNvSpPr txBox="0"/>
            <p:nvPr/>
          </p:nvSpPr>
          <p:spPr>
            <a:xfrm rot="0">
              <a:off x="3887046" y="3435350"/>
              <a:ext cx="464820" cy="419100"/>
            </a:xfrm>
            <a:prstGeom prst="rightArrow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</p:sp>
        <p:sp>
          <p:nvSpPr>
            <p:cNvPr id="1000771" name="content-5:node:1"/>
            <p:cNvSpPr txBox="0"/>
            <p:nvPr/>
          </p:nvSpPr>
          <p:spPr>
            <a:xfrm rot="0">
              <a:off x="4377267" y="2597150"/>
              <a:ext cx="2921847" cy="2095500"/>
            </a:xfrm>
            <a:prstGeom prst="roundRect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</p:sp>
        <p:sp>
          <p:nvSpPr>
            <p:cNvPr id="1000772" name="content-5:text:1"/>
            <p:cNvSpPr txBox="1"/>
            <p:nvPr/>
          </p:nvSpPr>
          <p:spPr>
            <a:xfrm rot="0">
              <a:off x="4453467" y="3121025"/>
              <a:ext cx="2769447" cy="1466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/>
            <a:lstStyle/>
            <a:p>
              <a:pPr>
                <a:lnSpc>
                  <a:spcPct val="130000"/>
                </a:lnSpc>
              </a:pPr>
              <a:r>
                <a:rPr lang="zh-CN" sz="2400" b="0" i="0">
                  <a:solidFill>
                    <a:srgbClr val="ffffff">
                      <a:alpha val="100000"/>
                    </a:srgbClr>
                  </a:solidFill>
                  <a:latin typeface="sans-serif"/>
                  <a:ea typeface="sans-serif"/>
                </a:rPr>
                <a:t xml:space="preserve">组织实施</a:t>
              </a:r>
              <a:endParaRPr sz="2400"/>
            </a:p>
          </p:txBody>
        </p:sp>
        <p:sp>
          <p:nvSpPr>
            <p:cNvPr id="1000773" name="content-5:arrow:1"/>
            <p:cNvSpPr txBox="0"/>
            <p:nvPr/>
          </p:nvSpPr>
          <p:spPr>
            <a:xfrm rot="0">
              <a:off x="7324513" y="3435350"/>
              <a:ext cx="464820" cy="419100"/>
            </a:xfrm>
            <a:prstGeom prst="rightArrow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</p:sp>
        <p:sp>
          <p:nvSpPr>
            <p:cNvPr id="1000774" name="content-5:node:2"/>
            <p:cNvSpPr txBox="0"/>
            <p:nvPr/>
          </p:nvSpPr>
          <p:spPr>
            <a:xfrm rot="0">
              <a:off x="7814733" y="2597150"/>
              <a:ext cx="2921847" cy="2095500"/>
            </a:xfrm>
            <a:prstGeom prst="roundRect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</p:sp>
        <p:sp>
          <p:nvSpPr>
            <p:cNvPr id="1000775" name="content-5:text:2"/>
            <p:cNvSpPr txBox="1"/>
            <p:nvPr/>
          </p:nvSpPr>
          <p:spPr>
            <a:xfrm rot="0">
              <a:off x="7890933" y="3121025"/>
              <a:ext cx="2769447" cy="1466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/>
            <a:lstStyle/>
            <a:p>
              <a:pPr>
                <a:lnSpc>
                  <a:spcPct val="130000"/>
                </a:lnSpc>
              </a:pPr>
              <a:r>
                <a:rPr lang="zh-CN" sz="2400" b="0" i="0">
                  <a:solidFill>
                    <a:srgbClr val="ffffff">
                      <a:alpha val="100000"/>
                    </a:srgbClr>
                  </a:solidFill>
                  <a:latin typeface="sans-serif"/>
                  <a:ea typeface="sans-serif"/>
                </a:rPr>
                <a:t xml:space="preserve">评估优化</a:t>
              </a:r>
              <a:endParaRPr sz="2400"/>
            </a:p>
          </p:txBody>
        </p:sp>
      </p:grpSp>
      <p:sp>
        <p:nvSpPr>
          <p:cNvPr id="4" name="footer-5"/>
          <p:cNvSpPr txBox="1"/>
          <p:nvPr/>
        </p:nvSpPr>
        <p:spPr>
          <a:xfrm rot="0">
            <a:off x="685800" y="6223000"/>
            <a:ext cx="1079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1300" b="0" i="0">
                <a:solidFill>
                  <a:srgbClr val="777777">
                    <a:alpha val="100000"/>
                  </a:srgbClr>
                </a:solidFill>
                <a:latin typeface="sans-serif"/>
                <a:ea typeface="sans-serif"/>
              </a:rPr>
              <a:t xml:space="preserve">FY 2026    /    JoyDeck 原创开发验证样例</a:t>
            </a:r>
            <a:endParaRPr sz="1300"/>
          </a:p>
        </p:txBody>
      </p:sp>
    </p:spTree>
  </p:cSld>
  <p:clrMapOvr>
    <a:masterClrMapping/>
  </p:clrMapOvr>
  <p:transition xmlns:p14="http://schemas.microsoft.com/office/powerpoint/2010/main" spd="med" p14:dur="600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00" fill="hold">
                      <p:stCondLst>
                        <p:cond delay="indefinite"/>
                      </p:stCondLst>
                      <p:childTnLst>
                        <p:par>
                          <p:cTn id="300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nodeType="clickEffect" fill="hold" repeatCount="1000" autoRev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 name="从计划到成果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6"/>
          <p:cNvSpPr txBox="1"/>
          <p:nvPr/>
        </p:nvSpPr>
        <p:spPr>
          <a:xfrm rot="0">
            <a:off x="685800" y="406400"/>
            <a:ext cx="10795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3000" b="0" i="0">
                <a:solidFill>
                  <a:srgbClr val="20334d">
                    <a:alpha val="100000"/>
                  </a:srgbClr>
                </a:solidFill>
                <a:latin typeface="sans-serif"/>
                <a:ea typeface="sans-serif"/>
              </a:rPr>
              <a:t xml:space="preserve">从计划到成果</a:t>
            </a:r>
            <a:endParaRPr sz="3000"/>
          </a:p>
        </p:txBody>
      </p:sp>
      <p:grpSp>
        <p:nvGrpSpPr>
          <p:cNvPr id="3" name="content-6"/>
          <p:cNvGrpSpPr/>
          <p:nvPr/>
        </p:nvGrpSpPr>
        <p:grpSpPr>
          <a:xfrm rot="0">
            <a:off x="939800" y="1549400"/>
            <a:ext cx="10312400" cy="4191000"/>
            <a:chOff x="939800" y="1549400"/>
            <a:chExt cx="10312400" cy="4191000"/>
          </a:xfrm>
        </p:grpSpPr>
        <p:sp>
          <p:nvSpPr>
            <p:cNvPr id="1000768" name="content-6:connector:1"/>
            <p:cNvSpPr txBox="0"/>
            <p:nvPr/>
          </p:nvSpPr>
          <p:spPr>
            <a:xfrm rot="10193081">
              <a:off x="3498664" y="2716530"/>
              <a:ext cx="2616571" cy="12700"/>
            </a:xfrm>
            <a:prstGeom prst="line">
              <a:avLst/>
            </a:prstGeom>
            <a:noFill/>
            <a:ln w="25400">
              <a:solidFill>
                <a:srgbClr val="4472c4">
                  <a:alpha val="100000"/>
                </a:srgbClr>
              </a:solidFill>
            </a:ln>
          </p:spPr>
        </p:sp>
        <p:sp>
          <p:nvSpPr>
            <p:cNvPr id="1000769" name="content-6:connector:2"/>
            <p:cNvSpPr txBox="0"/>
            <p:nvPr/>
          </p:nvSpPr>
          <p:spPr>
            <a:xfrm rot="573548">
              <a:off x="3498664" y="4113530"/>
              <a:ext cx="2616571" cy="12700"/>
            </a:xfrm>
            <a:prstGeom prst="line">
              <a:avLst/>
            </a:prstGeom>
            <a:noFill/>
            <a:ln w="25400">
              <a:solidFill>
                <a:srgbClr val="4472c4">
                  <a:alpha val="100000"/>
                </a:srgbClr>
              </a:solidFill>
            </a:ln>
          </p:spPr>
        </p:sp>
        <p:sp>
          <p:nvSpPr>
            <p:cNvPr id="1000770" name="content-6:connector:3"/>
            <p:cNvSpPr txBox="0"/>
            <p:nvPr/>
          </p:nvSpPr>
          <p:spPr>
            <a:xfrm rot="573547">
              <a:off x="6076764" y="2716530"/>
              <a:ext cx="2616571" cy="12700"/>
            </a:xfrm>
            <a:prstGeom prst="line">
              <a:avLst/>
            </a:prstGeom>
            <a:noFill/>
            <a:ln w="25400">
              <a:solidFill>
                <a:srgbClr val="4472c4">
                  <a:alpha val="100000"/>
                </a:srgbClr>
              </a:solidFill>
            </a:ln>
          </p:spPr>
        </p:sp>
        <p:sp>
          <p:nvSpPr>
            <p:cNvPr id="1000771" name="content-6:node:0"/>
            <p:cNvSpPr txBox="0"/>
            <p:nvPr/>
          </p:nvSpPr>
          <p:spPr>
            <a:xfrm rot="0">
              <a:off x="990600" y="1549400"/>
              <a:ext cx="10210800" cy="949960"/>
            </a:xfrm>
            <a:prstGeom prst="roundRect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</p:sp>
        <p:sp>
          <p:nvSpPr>
            <p:cNvPr id="1000772" name="content-6:text:0"/>
            <p:cNvSpPr txBox="1"/>
            <p:nvPr/>
          </p:nvSpPr>
          <p:spPr>
            <a:xfrm rot="0">
              <a:off x="1066800" y="1786890"/>
              <a:ext cx="10058400" cy="6649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/>
            <a:lstStyle/>
            <a:p>
              <a:pPr>
                <a:lnSpc>
                  <a:spcPct val="130000"/>
                </a:lnSpc>
              </a:pPr>
              <a:r>
                <a:rPr lang="zh-CN" sz="2400" b="0" i="0">
                  <a:solidFill>
                    <a:srgbClr val="ffffff">
                      <a:alpha val="100000"/>
                    </a:srgbClr>
                  </a:solidFill>
                  <a:latin typeface="sans-serif"/>
                  <a:ea typeface="sans-serif"/>
                </a:rPr>
                <a:t xml:space="preserve">业务计划</a:t>
              </a:r>
              <a:endParaRPr sz="2400"/>
            </a:p>
          </p:txBody>
        </p:sp>
        <p:sp>
          <p:nvSpPr>
            <p:cNvPr id="1000773" name="content-6:node:1"/>
            <p:cNvSpPr txBox="0"/>
            <p:nvPr/>
          </p:nvSpPr>
          <p:spPr>
            <a:xfrm rot="0">
              <a:off x="990600" y="2946400"/>
              <a:ext cx="5054600" cy="949960"/>
            </a:xfrm>
            <a:prstGeom prst="roundRect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</p:sp>
        <p:sp>
          <p:nvSpPr>
            <p:cNvPr id="1000774" name="content-6:text:1"/>
            <p:cNvSpPr txBox="1"/>
            <p:nvPr/>
          </p:nvSpPr>
          <p:spPr>
            <a:xfrm rot="0">
              <a:off x="1066800" y="3183890"/>
              <a:ext cx="4902200" cy="6649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/>
            <a:lstStyle/>
            <a:p>
              <a:pPr>
                <a:lnSpc>
                  <a:spcPct val="130000"/>
                </a:lnSpc>
              </a:pPr>
              <a:r>
                <a:rPr lang="zh-CN" sz="2400" b="0" i="0">
                  <a:solidFill>
                    <a:srgbClr val="ffffff">
                      <a:alpha val="100000"/>
                    </a:srgbClr>
                  </a:solidFill>
                  <a:latin typeface="sans-serif"/>
                  <a:ea typeface="sans-serif"/>
                </a:rPr>
                <a:t xml:space="preserve">客户增长</a:t>
              </a:r>
              <a:endParaRPr sz="2400"/>
            </a:p>
          </p:txBody>
        </p:sp>
        <p:sp>
          <p:nvSpPr>
            <p:cNvPr id="1000775" name="content-6:node:2"/>
            <p:cNvSpPr txBox="0"/>
            <p:nvPr/>
          </p:nvSpPr>
          <p:spPr>
            <a:xfrm rot="0">
              <a:off x="990600" y="4343400"/>
              <a:ext cx="10210800" cy="949960"/>
            </a:xfrm>
            <a:prstGeom prst="roundRect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</p:sp>
        <p:sp>
          <p:nvSpPr>
            <p:cNvPr id="1000776" name="content-6:text:2"/>
            <p:cNvSpPr txBox="1"/>
            <p:nvPr/>
          </p:nvSpPr>
          <p:spPr>
            <a:xfrm rot="0">
              <a:off x="1066800" y="4580890"/>
              <a:ext cx="10058400" cy="6649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/>
            <a:lstStyle/>
            <a:p>
              <a:pPr>
                <a:lnSpc>
                  <a:spcPct val="130000"/>
                </a:lnSpc>
              </a:pPr>
              <a:r>
                <a:rPr lang="zh-CN" sz="2400" b="0" i="0">
                  <a:solidFill>
                    <a:srgbClr val="ffffff">
                      <a:alpha val="100000"/>
                    </a:srgbClr>
                  </a:solidFill>
                  <a:latin typeface="sans-serif"/>
                  <a:ea typeface="sans-serif"/>
                </a:rPr>
                <a:t xml:space="preserve">客户体验</a:t>
              </a:r>
              <a:endParaRPr sz="2400"/>
            </a:p>
          </p:txBody>
        </p:sp>
        <p:sp>
          <p:nvSpPr>
            <p:cNvPr id="1000777" name="content-6:node:3"/>
            <p:cNvSpPr txBox="0"/>
            <p:nvPr/>
          </p:nvSpPr>
          <p:spPr>
            <a:xfrm rot="0">
              <a:off x="6146800" y="2946400"/>
              <a:ext cx="5054600" cy="949960"/>
            </a:xfrm>
            <a:prstGeom prst="roundRect">
              <a:avLst/>
            </a:prstGeom>
            <a:solidFill>
              <a:srgbClr val="4472c4">
                <a:alpha val="100000"/>
              </a:srgbClr>
            </a:solidFill>
            <a:ln>
              <a:noFill/>
            </a:ln>
          </p:spPr>
        </p:sp>
        <p:sp>
          <p:nvSpPr>
            <p:cNvPr id="1000778" name="content-6:text:3"/>
            <p:cNvSpPr txBox="1"/>
            <p:nvPr/>
          </p:nvSpPr>
          <p:spPr>
            <a:xfrm rot="0">
              <a:off x="6223000" y="3183890"/>
              <a:ext cx="4902200" cy="6649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/>
            <a:lstStyle/>
            <a:p>
              <a:pPr>
                <a:lnSpc>
                  <a:spcPct val="130000"/>
                </a:lnSpc>
              </a:pPr>
              <a:r>
                <a:rPr lang="zh-CN" sz="2400" b="0" i="0">
                  <a:solidFill>
                    <a:srgbClr val="ffffff">
                      <a:alpha val="100000"/>
                    </a:srgbClr>
                  </a:solidFill>
                  <a:latin typeface="sans-serif"/>
                  <a:ea typeface="sans-serif"/>
                </a:rPr>
                <a:t xml:space="preserve">产品迭代</a:t>
              </a:r>
              <a:endParaRPr sz="2400"/>
            </a:p>
          </p:txBody>
        </p:sp>
      </p:grpSp>
      <p:sp>
        <p:nvSpPr>
          <p:cNvPr id="4" name="footer-6"/>
          <p:cNvSpPr txBox="1"/>
          <p:nvPr/>
        </p:nvSpPr>
        <p:spPr>
          <a:xfrm rot="0">
            <a:off x="685800" y="6223000"/>
            <a:ext cx="1079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>
              <a:lnSpc>
                <a:spcPct val="130000"/>
              </a:lnSpc>
            </a:pPr>
            <a:r>
              <a:rPr lang="zh-CN" sz="1300" b="0" i="0">
                <a:solidFill>
                  <a:srgbClr val="777777">
                    <a:alpha val="100000"/>
                  </a:srgbClr>
                </a:solidFill>
                <a:latin typeface="sans-serif"/>
                <a:ea typeface="sans-serif"/>
              </a:rPr>
              <a:t xml:space="preserve">FY 2026    /    JoyDeck 原创开发验证样例</a:t>
            </a:r>
            <a:endParaRPr sz="1300"/>
          </a:p>
        </p:txBody>
      </p:sp>
    </p:spTree>
  </p:cSld>
  <p:clrMapOvr>
    <a:masterClrMapping/>
  </p:clrMapOvr>
  <p:transition xmlns:p14="http://schemas.microsoft.com/office/powerpoint/2010/main" spd="med" p14:dur="600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00" fill="hold">
                      <p:stCondLst>
                        <p:cond delay="indefinite"/>
                      </p:stCondLst>
                      <p:childTnLst>
                        <p:par>
                          <p:cTn id="300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nodeType="clickEffect" fill="hold" repeatCount="1000" autoRev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JoyDeck Original">
  <a:themeElements>
    <a:clrScheme name="JoyDeck">
      <a:dk1>
        <a:srgbClr val="202b3a"/>
      </a:dk1>
      <a:lt1>
        <a:srgbClr val="ffffff"/>
      </a:lt1>
      <a:dk2>
        <a:srgbClr val="15202d"/>
      </a:dk2>
      <a:lt2>
        <a:srgbClr val="eeeeee"/>
      </a:lt2>
      <a:accent1>
        <a:srgbClr val="087f8c"/>
      </a:accent1>
      <a:accent2>
        <a:srgbClr val="1265c5"/>
      </a:accent2>
      <a:accent3>
        <a:srgbClr val="c05050"/>
      </a:accent3>
      <a:accent4>
        <a:srgbClr val="808040"/>
      </a:accent4>
      <a:accent5>
        <a:srgbClr val="804080"/>
      </a:accent5>
      <a:accent6>
        <a:srgbClr val="408080"/>
      </a:accent6>
      <a:hlink>
        <a:srgbClr val="0000ff"/>
      </a:hlink>
      <a:folHlink>
        <a:srgbClr val="800080"/>
      </a:folHlink>
    </a:clrScheme>
    <a:fontScheme name="JoyDe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JoyDe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joydeck.xml><?xml version="1.0" encoding="utf-8"?>
<jd:document xmlns:jd="urn:joydeck:interop:1" version="1" digest="966c45665f1d19c49142afc194ff6956f1f11ae170cf4a8fd652689c7b369810">eyJwcmVzZW50YXRpb24iOnsic2xpZGVzIjp7InBhZ2UtMCI6eyJ0cmFuc2l0aW9uIjoibm9uZSIsImR1cmF0aW9uX21zIjo2MDAsImFkdmFuY2VfbXMiOm51bGwsImVmZmVjdHMiOlt7ImlkIjoiZW50cmFuY2UtMCIsInRhcmdldCI6ImNvbnRlbnQtMCIsImtpbmQiOiJmYWRlIiwidHJpZ2dlciI6ImNsaWNrIiwiZHVyYXRpb25fbXMiOjYwMCwiZGVsYXlfbXMiOjAsInJlcGVhdHMiOjEsImF1dG9fcmV2ZXJzZSI6ZmFsc2UsInJld2luZCI6ZmFsc2UsInBhcmFncmFwaCI6bnVsbCwiZHgiOi0xODAuMCwiZHkiOjAuMCwiYW1vdW50IjozNjAuMH1dfSwicGFnZS0xIjp7InRyYW5zaXRpb24iOiJmYWRlIiwiZHVyYXRpb25fbXMiOjYwMCwiYWR2YW5jZV9tcyI6bnVsbCwiZWZmZWN0cyI6W3siaWQiOiJlbnRyYW5jZS0xIiwidGFyZ2V0IjoiY29udGVudC0xIiwia2luZCI6ImZhZGUiLCJ0cmlnZ2VyIjoiY2xpY2siLCJkdXJhdGlvbl9tcyI6NjAwLCJkZWxheV9tcyI6MCwicmVwZWF0cyI6MSwiYXV0b19yZXZlcnNlIjpmYWxzZSwicmV3aW5kIjpmYWxzZSwicGFyYWdyYXBoIjpudWxsLCJkeCI6LTE4MC4wLCJkeSI6MC4wLCJhbW91bnQiOjM2MC4wfV19LCJwYWdlLTIiOnsidHJhbnNpdGlvbiI6ImZhZGUiLCJkdXJhdGlvbl9tcyI6NjAwLCJhZHZhbmNlX21zIjpudWxsLCJlZmZlY3RzIjpbeyJpZCI6ImVudHJhbmNlLTIiLCJ0YXJnZXQiOiJjb250ZW50LTIiLCJraW5kIjoiZmFkZSIsInRyaWdnZXIiOiJjbGljayIsImR1cmF0aW9uX21zIjo2MDAsImRlbGF5X21zIjowLCJyZXBlYXRzIjoxLCJhdXRvX3JldmVyc2UiOmZhbHNlLCJyZXdpbmQiOmZhbHNlLCJwYXJhZ3JhcGgiOm51bGwsImR4IjotMTgwLjAsImR5IjowLjAsImFtb3VudCI6MzYwLjB9XX0sInBhZ2UtMyI6eyJ0cmFuc2l0aW9uIjoiZmFkZSIsImR1cmF0aW9uX21zIjo2MDAsImFkdmFuY2VfbXMiOm51bGwsImVmZmVjdHMiOlt7ImlkIjoiZW50cmFuY2UtMyIsInRhcmdldCI6ImNvbnRlbnQtMyIsImtpbmQiOiJmYWRlIiwidHJpZ2dlciI6ImNsaWNrIiwiZHVyYXRpb25fbXMiOjYwMCwiZGVsYXlfbXMiOjAsInJlcGVhdHMiOjEsImF1dG9fcmV2ZXJzZSI6ZmFsc2UsInJld2luZCI6ZmFsc2UsInBhcmFncmFwaCI6bnVsbCwiZHgiOi0xODAuMCwiZHkiOjAuMCwiYW1vdW50IjozNjAuMH1dfSwicGFnZS00Ijp7InRyYW5zaXRpb24iOiJmYWRlIiwiZHVyYXRpb25fbXMiOjYwMCwiYWR2YW5jZV9tcyI6bnVsbCwiZWZmZWN0cyI6W3siaWQiOiJlbnRyYW5jZS00IiwidGFyZ2V0IjoiY29udGVudC00Iiwia2luZCI6ImZhZGUiLCJ0cmlnZ2VyIjoiY2xpY2siLCJkdXJhdGlvbl9tcyI6NjAwLCJkZWxheV9tcyI6MCwicmVwZWF0cyI6MSwiYXV0b19yZXZlcnNlIjpmYWxzZSwicmV3aW5kIjpmYWxzZSwicGFyYWdyYXBoIjpudWxsLCJkeCI6LTE4MC4wLCJkeSI6MC4wLCJhbW91bnQiOjM2MC4wfV19LCJwYWdlLTUiOnsidHJhbnNpdGlvbiI6ImZhZGUiLCJkdXJhdGlvbl9tcyI6NjAwLCJhZHZhbmNlX21zIjpudWxsLCJlZmZlY3RzIjpbeyJpZCI6ImVudHJhbmNlLTUiLCJ0YXJnZXQiOiJjb250ZW50LTUiLCJraW5kIjoiZmFkZSIsInRyaWdnZXIiOiJjbGljayIsImR1cmF0aW9uX21zIjo2MDAsImRlbGF5X21zIjowLCJyZXBlYXRzIjoxLCJhdXRvX3JldmVyc2UiOmZhbHNlLCJyZXdpbmQiOmZhbHNlLCJwYXJhZ3JhcGgiOm51bGwsImR4IjotMTgwLjAsImR5IjowLjAsImFtb3VudCI6MzYwLjB9XX0sInBhZ2UtNiI6eyJ0cmFuc2l0aW9uIjoiZmFkZSIsImR1cmF0aW9uX21zIjo2MDAsImFkdmFuY2VfbXMiOm51bGwsImVmZmVjdHMiOlt7ImlkIjoiZW50cmFuY2UtNiIsInRhcmdldCI6ImNvbnRlbnQtNiIsImtpbmQiOiJmYWRlIiwidHJpZ2dlciI6ImNsaWNrIiwiZHVyYXRpb25fbXMiOjYwMCwiZGVsYXlfbXMiOjAsInJlcGVhdHMiOjEsImF1dG9fcmV2ZXJzZSI6ZmFsc2UsInJld2luZCI6ZmFsc2UsInBhcmFncmFwaCI6bnVsbCwiZHgiOi0xODAuMCwiZHkiOjAuMCwiYW1vdW50IjozNjAuMH1dfX0sIm9yZGVyIjpbXSwibG9vcF9zaG93IjpmYWxzZSwibGlua3MiOnt9fSwiZGVzaWduIjp7InRoZW1lcyI6e30sIm1hc3RlcnMiOnt9LCJsYXlvdXRzIjp7fX0sIm9yZ2FuaXphdGlvbiI6eyJhdXRob3IiOiIiLCJzdWJqZWN0IjoiIiwic2VjdGlvbnMiOnt9fSwiZmllbGREYXRlIjoiIiwidGl0bGUiOiLlraPluqbkuJrliqHlm57pob4iLCJ3aWR0aCI6OTYwLjAsImhlaWdodCI6NTQwLjAsInNsaWRlcyI6W3sibGF5b3V0IjpudWxsLCJpbmhlcml0X2JhY2tncm91bmQiOmZhbHNlLCJub3RlcyI6IuengeWvhua8lOiusuiAheWkh+azqO+8muesrDHpobXvvIzku4XlnKjmvJTnpLrogIXnqpflj6Plj6/op4HjgIIiLCJzZWN0aW9uIjpudWxsLCJoaWRkZW4iOmZhbHNlLCJpZCI6InBhZ2UtMCIsInRpdGxlIjoi5a2j5bqm5Lia5Yqh6KGo546wIMK3IOafseW9ouWbviIsImJhY2tncm91bmQiOiIjZmZmZmZmIiwib2JqZWN0cyI6W3siaWQiOiJ0aXRsZS0wIiwicm90YXRpb24iOjAuMCwib3BhY2l0eSI6MS4wLCJzdHJva2UiOiIjMjAyYjNhIiwic3Ryb2tlV2lkdGgiOjAuMCwia2luZCI6InRleHQiLCJ4Ijo1NC4wLCJ5IjozMi4wLCJ3aWR0aCI6ODUwLjAsImhlaWdodCI6NTAuMCwiZmlsbCI6IiMyMDMzNGQiLCJ0ZXh0Ijoi5a2j5bqm5Lia5Yqh6KGo546wIMK3IOafseW9ouWbviIsImZvbnRTaXplIjozMC4wfSx7ImNoYXJ0Ijp7ImtpbmQiOiJjb2x1bW4iLCJ0aXRsZSI6IiIsImNhdGVnb3JpZXMiOlsi56ys5LiA5a2j5bqmIiwi56ys5LqM5a2j5bqmIiwi56ys5LiJ5a2j5bqmIiwi56ys5Zub5a2j5bqmIl0sInNlcmllcyI6W3sibmFtZSI6IuaUtuWFpSIsInZhbHVlcyI6WzQyLjAsNTguMCw3Mi4wLDkxLjBdLCJ4IjpbXX1dLCJsZWdlbmQiOnRydWUsImdyaWQiOnRydWUsImxhYmVscyI6dHJ1ZSwieF90aXRsZSI6IiIsInlfdGl0bGUiOiIiLCJ1bml0IjoiIOS4h+WFgyIsIm1pbmltdW0iOm51bGwsIm1heGltdW0iOm51bGwsImNvbG9ycyI6WyIjNDQ3MmM0IiwiI2VkN2QzMSIsIiNhNWE1YTUiLCIjZmZjMDAwIiwiIzViOWJkNSIsIiM3MGFkNDciXX0sImlkIjoiY29udGVudC0wIiwicm90YXRpb24iOjAuMCwib3BhY2l0eSI6MS4wLCJzdHJva2UiOiIjMjAyYjNhIiwic3Ryb2tlV2lkdGgiOjAuMCwia2luZCI6ImNoYXJ0IiwieCI6NzQuMCwieSI6MTIyLjAsIndpZHRoIjo4MTIuMCwiaGVpZ2h0IjozMzAuMCwiZmlsbCI6IiMyN2I2YTciLCJ0ZXh0IjoiIiwiZm9udFNpemUiOjI0LjB9LHsiaWQiOiJmb290ZXItMCIsInJvdGF0aW9uIjowLjAsIm9wYWNpdHkiOjEuMCwic3Ryb2tlIjoiIzIwMmIzYSIsInN0cm9rZVdpZHRoIjowLjAsImtpbmQiOiJ0ZXh0IiwieCI6NTQuMCwieSI6NDkwLjAsIndpZHRoIjo4NTAuMCwiaGVpZ2h0IjoyNS4wLCJmaWxsIjoiIzc3Nzc3NyIsInRleHQiOiJGWSAyMDI2ICAgIC8gICAgSm95RGVjayDljp/liJvlvIDlj5Hpqozor4HmoLfkvosiLCJmb250U2l6ZSI6MTMuMH1dfSx7ImxheW91dCI6bnVsbCwiaW5oZXJpdF9iYWNrZ3JvdW5kIjpmYWxzZSwibm90ZXMiOiLnp4Hlr4bmvJTorrLogIXlpIfms6jvvJrnrKwy6aG177yM5LuF5Zyo5ryU56S66ICF56qX5Y+j5Y+v6KeB44CCIiwic2VjdGlvbiI6bnVsbCwiaGlkZGVuIjpmYWxzZSwiaWQiOiJwYWdlLTEiLCJ0aXRsZSI6IuWto+W6puS4muWKoeihqOeOsCDCtyDmnaHlvaLlm74iLCJiYWNrZ3JvdW5kIjoiI2ZmZmZmZiIsIm9iamVjdHMiOlt7ImlkIjoidGl0bGUtMSIsInJvdGF0aW9uIjowLjAsIm9wYWNpdHkiOjEuMCwic3Ryb2tlIjoiIzIwMmIzYSIsInN0cm9rZVdpZHRoIjowLjAsImtpbmQiOiJ0ZXh0IiwieCI6NTQuMCwieSI6MzIuMCwid2lkdGgiOjg1MC4wLCJoZWlnaHQiOjUwLjAsImZpbGwiOiIjMjAzMzRkIiwidGV4dCI6IuWto+W6puS4muWKoeihqOeOsCDCtyDmnaHlvaLlm74iLCJmb250U2l6ZSI6MzAuMH0seyJjaGFydCI6eyJraW5kIjoiYmFyIiwidGl0bGUiOiIiLCJjYXRlZ29yaWVzIjpbIuesrOS4gOWto+W6piIsIuesrOS6jOWto+W6piIsIuesrOS4ieWto+W6piIsIuesrOWbm+Wto+W6piJdLCJzZXJpZXMiOlt7Im5hbWUiOiLmlLblhaUiLCJ2YWx1ZXMiOls0Mi4wLDU4LjAsNzIuMCw5MS4wXSwieCI6W119XSwibGVnZW5kIjp0cnVlLCJncmlkIjp0cnVlLCJsYWJlbHMiOnRydWUsInhfdGl0bGUiOiIiLCJ5X3RpdGxlIjoiIiwidW5pdCI6IiDkuIflhYMiLCJtaW5pbXVtIjpudWxsLCJtYXhpbXVtIjpudWxsLCJjb2xvcnMiOlsiIzQ0NzJjNCIsIiNlZDdkMzEiLCIjYTVhNWE1IiwiI2ZmYzAwMCIsIiM1YjliZDUiLCIjNzBhZDQ3Il19LCJpZCI6ImNvbnRlbnQtMSIsInJvdGF0aW9uIjowLjAsIm9wYWNpdHkiOjEuMCwic3Ryb2tlIjoiIzIwMmIzYSIsInN0cm9rZVdpZHRoIjowLjAsImtpbmQiOiJjaGFydCIsIngiOjc0LjAsInkiOjEyMi4wLCJ3aWR0aCI6ODEyLjAsImhlaWdodCI6MzMwLjAsImZpbGwiOiIjMjdiNmE3IiwidGV4dCI6IiIsImZvbnRTaXplIjoyNC4wfSx7ImlkIjoiZm9vdGVyLTEiLCJyb3RhdGlvbiI6MC4wLCJvcGFjaXR5IjoxLjAsInN0cm9rZSI6IiMyMDJiM2EiLCJzdHJva2VXaWR0aCI6MC4wLCJraW5kIjoidGV4dCIsIngiOjU0LjAsInkiOjQ5MC4wLCJ3aWR0aCI6ODUwLjAsImhlaWdodCI6MjUuMCwiZmlsbCI6IiM3Nzc3NzciLCJ0ZXh0IjoiRlkgMjAyNiAgICAvICAgIEpveURlY2sg5Y6f5Yib5byA5Y+R6aqM6K+B5qC35L6LIiwiZm9udFNpemUiOjEzLjB9XX0seyJsYXlvdXQiOm51bGwsImluaGVyaXRfYmFja2dyb3VuZCI6ZmFsc2UsIm5vdGVzIjoi56eB5a+G5ryU6K6y6ICF5aSH5rOo77ya56ysM+mhte+8jOS7heWcqOa8lOekuuiAheeql+WPo+WPr+ingeOAgiIsInNlY3Rpb24iOm51bGwsImhpZGRlbiI6ZmFsc2UsImlkIjoicGFnZS0yIiwidGl0bGUiOiLlraPluqbkuJrliqHooajnjrAgwrcg5oqY57q/5Zu+IiwiYmFja2dyb3VuZCI6IiNmZmZmZmYiLCJvYmplY3RzIjpbeyJpZCI6InRpdGxlLTIiLCJyb3RhdGlvbiI6MC4wLCJvcGFjaXR5IjoxLjAsInN0cm9rZSI6IiMyMDJiM2EiLCJzdHJva2VXaWR0aCI6MC4wLCJraW5kIjoidGV4dCIsIngiOjU0LjAsInkiOjMyLjAsIndpZHRoIjo4NTAuMCwiaGVpZ2h0Ijo1MC4wLCJmaWxsIjoiIzIwMzM0ZCIsInRleHQiOiLlraPluqbkuJrliqHooajnjrAgwrcg5oqY57q/5Zu+IiwiZm9udFNpemUiOjMwLjB9LHsiY2hhcnQiOnsia2luZCI6ImxpbmUiLCJ0aXRsZSI6IiIsImNhdGVnb3JpZXMiOlsi56ys5LiA5a2j5bqmIiwi56ys5LqM5a2j5bqmIiwi56ys5LiJ5a2j5bqmIiwi56ys5Zub5a2j5bqmIl0sInNlcmllcyI6W3sibmFtZSI6IuaUtuWFpSIsInZhbHVlcyI6WzQyLjAsNTguMCw3Mi4wLDkxLjBdLCJ4IjpbXX1dLCJsZWdlbmQiOnRydWUsImdyaWQiOnRydWUsImxhYmVscyI6dHJ1ZSwieF90aXRsZSI6IiIsInlfdGl0bGUiOiIiLCJ1bml0IjoiIOS4h+WFgyIsIm1pbmltdW0iOm51bGwsIm1heGltdW0iOm51bGwsImNvbG9ycyI6WyIjNDQ3MmM0IiwiI2VkN2QzMSIsIiNhNWE1YTUiLCIjZmZjMDAwIiwiIzViOWJkNSIsIiM3MGFkNDciXX0sImlkIjoiY29udGVudC0yIiwicm90YXRpb24iOjAuMCwib3BhY2l0eSI6MS4wLCJzdHJva2UiOiIjMjAyYjNhIiwic3Ryb2tlV2lkdGgiOjAuMCwia2luZCI6ImNoYXJ0IiwieCI6NzQuMCwieSI6MTIyLjAsIndpZHRoIjo4MTIuMCwiaGVpZ2h0IjozMzAuMCwiZmlsbCI6IiMyN2I2YTciLCJ0ZXh0IjoiIiwiZm9udFNpemUiOjI0LjB9LHsiaWQiOiJmb290ZXItMiIsInJvdGF0aW9uIjowLjAsIm9wYWNpdHkiOjEuMCwic3Ryb2tlIjoiIzIwMmIzYSIsInN0cm9rZVdpZHRoIjowLjAsImtpbmQiOiJ0ZXh0IiwieCI6NTQuMCwieSI6NDkwLjAsIndpZHRoIjo4NTAuMCwiaGVpZ2h0IjoyNS4wLCJmaWxsIjoiIzc3Nzc3NyIsInRleHQiOiJGWSAyMDI2ICAgIC8gICAgSm95RGVjayDljp/liJvlvIDlj5Hpqozor4HmoLfkvosiLCJmb250U2l6ZSI6MTMuMH1dfSx7ImxheW91dCI6bnVsbCwiaW5oZXJpdF9iYWNrZ3JvdW5kIjpmYWxzZSwibm90ZXMiOiLnp4Hlr4bmvJTorrLogIXlpIfms6jvvJrnrKw06aG177yM5LuF5Zyo5ryU56S66ICF56qX5Y+j5Y+v6KeB44CCIiwic2VjdGlvbiI6bnVsbCwiaGlkZGVuIjpmYWxzZSwiaWQiOiJwYWdlLTMiLCJ0aXRsZSI6IuWto+W6puS4muWKoeihqOeOsCDCtyDppbzlm74iLCJiYWNrZ3JvdW5kIjoiI2ZmZmZmZiIsIm9iamVjdHMiOlt7ImlkIjoidGl0bGUtMyIsInJvdGF0aW9uIjowLjAsIm9wYWNpdHkiOjEuMCwic3Ryb2tlIjoiIzIwMmIzYSIsInN0cm9rZVdpZHRoIjowLjAsImtpbmQiOiJ0ZXh0IiwieCI6NTQuMCwieSI6MzIuMCwid2lkdGgiOjg1MC4wLCJoZWlnaHQiOjUwLjAsImZpbGwiOiIjMjAzMzRkIiwidGV4dCI6IuWto+W6puS4muWKoeihqOeOsCDCtyDppbzlm74iLCJmb250U2l6ZSI6MzAuMH0seyJjaGFydCI6eyJraW5kIjoicGllIiwidGl0bGUiOiIiLCJjYXRlZ29yaWVzIjpbIuesrOS4gOWto+W6piIsIuesrOS6jOWto+W6piIsIuesrOS4ieWto+W6piIsIuesrOWbm+Wto+W6piJdLCJzZXJpZXMiOlt7Im5hbWUiOiLmlLblhaUiLCJ2YWx1ZXMiOls0Mi4wLDU4LjAsNzIuMCw5MS4wXSwieCI6W119XSwibGVnZW5kIjp0cnVlLCJncmlkIjp0cnVlLCJsYWJlbHMiOnRydWUsInhfdGl0bGUiOiIiLCJ5X3RpdGxlIjoiIiwidW5pdCI6IiDkuIflhYMiLCJtaW5pbXVtIjpudWxsLCJtYXhpbXVtIjpudWxsLCJjb2xvcnMiOlsiIzQ0NzJjNCIsIiNlZDdkMzEiLCIjYTVhNWE1IiwiI2ZmYzAwMCIsIiM1YjliZDUiLCIjNzBhZDQ3Il19LCJpZCI6ImNvbnRlbnQtMyIsInJvdGF0aW9uIjowLjAsIm9wYWNpdHkiOjEuMCwic3Ryb2tlIjoiIzIwMmIzYSIsInN0cm9rZVdpZHRoIjowLjAsImtpbmQiOiJjaGFydCIsIngiOjc0LjAsInkiOjEyMi4wLCJ3aWR0aCI6ODEyLjAsImhlaWdodCI6MzMwLjAsImZpbGwiOiIjMjdiNmE3IiwidGV4dCI6IiIsImZvbnRTaXplIjoyNC4wfSx7ImlkIjoiZm9vdGVyLTMiLCJyb3RhdGlvbiI6MC4wLCJvcGFjaXR5IjoxLjAsInN0cm9rZSI6IiMyMDJiM2EiLCJzdHJva2VXaWR0aCI6MC4wLCJraW5kIjoidGV4dCIsIngiOjU0LjAsInkiOjQ5MC4wLCJ3aWR0aCI6ODUwLjAsImhlaWdodCI6MjUuMCwiZmlsbCI6IiM3Nzc3NzciLCJ0ZXh0IjoiRlkgMjAyNiAgICAvICAgIEpveURlY2sg5Y6f5Yib5byA5Y+R6aqM6K+B5qC35L6LIiwiZm9udFNpemUiOjEzLjB9XX0seyJsYXlvdXQiOm51bGwsImluaGVyaXRfYmFja2dyb3VuZCI6ZmFsc2UsIm5vdGVzIjoi56eB5a+G5ryU6K6y6ICF5aSH5rOo77ya56ysNemhte+8jOS7heWcqOa8lOekuuiAheeql+WPo+WPr+ingeOAgiIsInNlY3Rpb24iOm51bGwsImhpZGRlbiI6ZmFsc2UsImlkIjoicGFnZS00IiwidGl0bGUiOiLlraPluqbkuJrliqHooajnjrAgwrcg5pWj54K55Zu+IiwiYmFja2dyb3VuZCI6IiNmZmZmZmYiLCJvYmplY3RzIjpbeyJpZCI6InRpdGxlLTQiLCJyb3RhdGlvbiI6MC4wLCJvcGFjaXR5IjoxLjAsInN0cm9rZSI6IiMyMDJiM2EiLCJzdHJva2VXaWR0aCI6MC4wLCJraW5kIjoidGV4dCIsIngiOjU0LjAsInkiOjMyLjAsIndpZHRoIjo4NTAuMCwiaGVpZ2h0Ijo1MC4wLCJmaWxsIjoiIzIwMzM0ZCIsInRleHQiOiLlraPluqbkuJrliqHooajnjrAgwrcg5pWj54K55Zu+IiwiZm9udFNpemUiOjMwLjB9LHsiY2hhcnQiOnsia2luZCI6InNjYXR0ZXIiLCJ0aXRsZSI6IiIsImNhdGVnb3JpZXMiOlsi56ys5LiA5a2j5bqmIiwi56ys5LqM5a2j5bqmIiwi56ys5LiJ5a2j5bqmIiwi56ys5Zub5a2j5bqmIl0sInNlcmllcyI6W3sibmFtZSI6IuaUtuWFpSIsInZhbHVlcyI6WzQyLjAsNTguMCw3Mi4wLDkxLjBdLCJ4IjpbMS4wLDMuMCw3LjAsMTIuMF19XSwibGVnZW5kIjp0cnVlLCJncmlkIjp0cnVlLCJsYWJlbHMiOnRydWUsInhfdGl0bGUiOiLmipXlhaUiLCJ5X3RpdGxlIjoiIiwidW5pdCI6IiDkuIflhYMiLCJtaW5pbXVtIjpudWxsLCJtYXhpbXVtIjpudWxsLCJjb2xvcnMiOlsiIzQ0NzJjNCIsIiNlZDdkMzEiLCIjYTVhNWE1IiwiI2ZmYzAwMCIsIiM1YjliZDUiLCIjNzBhZDQ3Il19LCJpZCI6ImNvbnRlbnQtNCIsInJvdGF0aW9uIjowLjAsIm9wYWNpdHkiOjEuMCwic3Ryb2tlIjoiIzIwMmIzYSIsInN0cm9rZVdpZHRoIjowLjAsImtpbmQiOiJjaGFydCIsIngiOjc0LjAsInkiOjEyMi4wLCJ3aWR0aCI6ODEyLjAsImhlaWdodCI6MzMwLjAsImZpbGwiOiIjMjdiNmE3IiwidGV4dCI6IiIsImZvbnRTaXplIjoyNC4wfSx7ImlkIjoiZm9vdGVyLTQiLCJyb3RhdGlvbiI6MC4wLCJvcGFjaXR5IjoxLjAsInN0cm9rZSI6IiMyMDJiM2EiLCJzdHJva2VXaWR0aCI6MC4wLCJraW5kIjoidGV4dCIsIngiOjU0LjAsInkiOjQ5MC4wLCJ3aWR0aCI6ODUwLjAsImhlaWdodCI6MjUuMCwiZmlsbCI6IiM3Nzc3NzciLCJ0ZXh0IjoiRlkgMjAyNiAgICAvICAgIEpveURlY2sg5Y6f5Yib5byA5Y+R6aqM6K+B5qC35L6LIiwiZm9udFNpemUiOjEzLjB9XX0seyJsYXlvdXQiOm51bGwsImluaGVyaXRfYmFja2dyb3VuZCI6ZmFsc2UsIm5vdGVzIjoi56eB5a+G5ryU6K6y6ICF5aSH5rOo77ya56ysNumhte+8jOS7heWcqOa8lOekuuiAheeql+WPo+WPr+ingeOAgiIsInNlY3Rpb24iOm51bGwsImhpZGRlbiI6ZmFsc2UsImlkIjoicGFnZS01IiwidGl0bGUiOiLku47orqHliJLliLDmiJDmnpwiLCJiYWNrZ3JvdW5kIjoiI2ZmZmZmZiIsIm9iamVjdHMiOlt7ImlkIjoidGl0bGUtNSIsInJvdGF0aW9uIjowLjAsIm9wYWNpdHkiOjEuMCwic3Ryb2tlIjoiIzIwMmIzYSIsInN0cm9rZVdpZHRoIjowLjAsImtpbmQiOiJ0ZXh0IiwieCI6NTQuMCwieSI6MzIuMCwid2lkdGgiOjg1MC4wLCJoZWlnaHQiOjUwLjAsImZpbGwiOiIjMjAzMzRkIiwidGV4dCI6IuS7juiuoeWIkuWIsOaIkOaenCIsImZvbnRTaXplIjozMC4wfSx7ImRpYWdyYW0iOnsibGF5b3V0IjoicHJvY2VzcyIsIm5vZGVzIjpbeyJpZCI6Im5vZGUtMCIsInRleHQiOiLliLblrprorqHliJIiLCJwYXJlbnQiOm51bGx9LHsiaWQiOiJub2RlLTEiLCJ0ZXh0Ijoi57uE57uH5a6e5pa9IiwicGFyZW50IjpudWxsfSx7ImlkIjoibm9kZS0yIiwidGV4dCI6IuivhOS8sOS8mOWMliIsInBhcmVudCI6bnVsbH1dLCJjb2xvciI6IiM0NDcyYzQifSwiaWQiOiJjb250ZW50LTUiLCJyb3RhdGlvbiI6MC4wLCJvcGFjaXR5IjoxLjAsInN0cm9rZSI6IiMyMDJiM2EiLCJzdHJva2VXaWR0aCI6MC4wLCJraW5kIjoiZGlhZ3JhbSIsIngiOjc0LjAsInkiOjEyMi4wLCJ3aWR0aCI6ODEyLjAsImhlaWdodCI6MzMwLjAsImZpbGwiOiIjMjdiNmE3IiwidGV4dCI6IiIsImZvbnRTaXplIjoyNC4wfSx7ImlkIjoiZm9vdGVyLTUiLCJyb3RhdGlvbiI6MC4wLCJvcGFjaXR5IjoxLjAsInN0cm9rZSI6IiMyMDJiM2EiLCJzdHJva2VXaWR0aCI6MC4wLCJraW5kIjoidGV4dCIsIngiOjU0LjAsInkiOjQ5MC4wLCJ3aWR0aCI6ODUwLjAsImhlaWdodCI6MjUuMCwiZmlsbCI6IiM3Nzc3NzciLCJ0ZXh0IjoiRlkgMjAyNiAgICAvICAgIEpveURlY2sg5Y6f5Yib5byA5Y+R6aqM6K+B5qC35L6LIiwiZm9udFNpemUiOjEzLjB9XX0seyJsYXlvdXQiOm51bGwsImluaGVyaXRfYmFja2dyb3VuZCI6ZmFsc2UsIm5vdGVzIjoi56eB5a+G5ryU6K6y6ICF5aSH5rOo77ya56ysN+mhte+8jOS7heWcqOa8lOekuuiAheeql+WPo+WPr+ingeOAgiIsInNlY3Rpb24iOm51bGwsImhpZGRlbiI6ZmFsc2UsImlkIjoicGFnZS02IiwidGl0bGUiOiLku47orqHliJLliLDmiJDmnpwiLCJiYWNrZ3JvdW5kIjoiI2ZmZmZmZiIsIm9iamVjdHMiOlt7ImlkIjoidGl0bGUtNiIsInJvdGF0aW9uIjowLjAsIm9wYWNpdHkiOjEuMCwic3Ryb2tlIjoiIzIwMmIzYSIsInN0cm9rZVdpZHRoIjowLjAsImtpbmQiOiJ0ZXh0IiwieCI6NTQuMCwieSI6MzIuMCwid2lkdGgiOjg1MC4wLCJoZWlnaHQiOjUwLjAsImZpbGwiOiIjMjAzMzRkIiwidGV4dCI6IuS7juiuoeWIkuWIsOaIkOaenCIsImZvbnRTaXplIjozMC4wfSx7ImRpYWdyYW0iOnsibGF5b3V0IjoiaGllcmFyY2h5Iiwibm9kZXMiOlt7ImlkIjoibm9kZS0wIiwidGV4dCI6IuS4muWKoeiuoeWIkiIsInBhcmVudCI6bnVsbH0seyJpZCI6Im5vZGUtMSIsInRleHQiOiLlrqLmiLflop7plb8iLCJwYXJlbnQiOiJub2RlLTAifSx7ImlkIjoibm9kZS0yIiwidGV4dCI6IuWuouaIt+S9k+mqjCIsInBhcmVudCI6Im5vZGUtMSJ9LHsiaWQiOiJub2RlLTMiLCJ0ZXh0Ijoi5Lqn5ZOB6L+t5LujIiwicGFyZW50Ijoibm9kZS0wIn1dLCJjb2xvciI6IiM0NDcyYzQifSwiaWQiOiJjb250ZW50LTYiLCJyb3RhdGlvbiI6MC4wLCJvcGFjaXR5IjoxLjAsInN0cm9rZSI6IiMyMDJiM2EiLCJzdHJva2VXaWR0aCI6MC4wLCJraW5kIjoiZGlhZ3JhbSIsIngiOjc0LjAsInkiOjEyMi4wLCJ3aWR0aCI6ODEyLjAsImhlaWdodCI6MzMwLjAsImZpbGwiOiIjMjdiNmE3IiwidGV4dCI6IiIsImZvbnRTaXplIjoyNC4wfSx7ImlkIjoiZm9vdGVyLTYiLCJyb3RhdGlvbiI6MC4wLCJvcGFjaXR5IjoxLjAsInN0cm9rZSI6IiMyMDJiM2EiLCJzdHJva2VXaWR0aCI6MC4wLCJraW5kIjoidGV4dCIsIngiOjU0LjAsInkiOjQ5MC4wLCJ3aWR0aCI6ODUwLjAsImhlaWdodCI6MjUuMCwiZmlsbCI6IiM3Nzc3NzciLCJ0ZXh0IjoiRlkgMjAyNiAgICAvICAgIEpveURlY2sg5Y6f5Yib5byA5Y+R6aqM6K+B5qC35L6LIiwiZm9udFNpemUiOjEzLjB9XX1dfQ==</jd:document>
</file>