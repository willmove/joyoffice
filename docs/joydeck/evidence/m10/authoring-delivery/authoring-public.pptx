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charts/chart-1-3.xml" ContentType="application/vnd.openxmlformats-officedocument.drawingml.char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charts/chart-2-3.xml" ContentType="application/vnd.openxmlformats-officedocument.drawingml.chart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charts/chart-3-3.xml" ContentType="application/vnd.openxmlformats-officedocument.drawingml.chart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charts/chart-4-3.xml" ContentType="application/vnd.openxmlformats-officedocument.drawingml.chart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charts/chart-5-3.xml" ContentType="application/vnd.openxmlformats-officedocument.drawingml.chart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charts/chart-8-3.xml" ContentType="application/vnd.openxmlformats-officedocument.drawingml.chart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charts/chart-9-3.xml" ContentType="application/vnd.openxmlformats-officedocument.drawingml.chart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<?xml version="1.0" encoding="UTF-8"?><Relationships xmlns="http://schemas.openxmlformats.org/package/2006/relationships"><Relationship Id="office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master"/>
  </p:sldMasterIdLst>
  <p:sldIdLst>
    <p:sldId id="256" r:id="slide1"/>
    <p:sldId id="257" r:id="slide2"/>
    <p:sldId id="258" r:id="slide3"/>
    <p:sldId id="259" r:id="slide4"/>
    <p:sldId id="260" r:id="slide5"/>
    <p:sldId id="261" r:id="slide6"/>
    <p:sldId id="262" r:id="slide7"/>
    <p:sldId id="263" r:id="slide8"/>
    <p:sldId id="264" r:id="slide9"/>
  </p:sldIdLst>
  <p:sldSz cx="12192000" cy="6858000"/>
  <p:notesSz cx="6858000" cy="9144000"/>
</p:presentation>
</file>

<file path=ppt/_rels/presentation.xml.rels><?xml version="1.0" encoding="UTF-8"?><Relationships xmlns="http://schemas.openxmlformats.org/package/2006/relationships"><Relationship Id="master" Type="http://schemas.openxmlformats.org/officeDocument/2006/relationships/slideMaster" Target="slideMasters/slideMaster1.xml"/><Relationship Id="snapshot" Type="http://schemas.openxmlformats.org/officeDocument/2006/relationships/customXml" Target="../customXml/joydeck.xml"/><Relationship Id="slide1" Type="http://schemas.openxmlformats.org/officeDocument/2006/relationships/slide" Target="slides/slide1.xml"/><Relationship Id="slide2" Type="http://schemas.openxmlformats.org/officeDocument/2006/relationships/slide" Target="slides/slide2.xml"/><Relationship Id="slide3" Type="http://schemas.openxmlformats.org/officeDocument/2006/relationships/slide" Target="slides/slide3.xml"/><Relationship Id="slide4" Type="http://schemas.openxmlformats.org/officeDocument/2006/relationships/slide" Target="slides/slide4.xml"/><Relationship Id="slide5" Type="http://schemas.openxmlformats.org/officeDocument/2006/relationships/slide" Target="slides/slide5.xml"/><Relationship Id="slide6" Type="http://schemas.openxmlformats.org/officeDocument/2006/relationships/slide" Target="slides/slide6.xml"/><Relationship Id="slide7" Type="http://schemas.openxmlformats.org/officeDocument/2006/relationships/slide" Target="slides/slide7.xml"/><Relationship Id="slide8" Type="http://schemas.openxmlformats.org/officeDocument/2006/relationships/slide" Target="slides/slide8.xml"/><Relationship Id="slide9" Type="http://schemas.openxmlformats.org/officeDocument/2006/relationships/slide" Target="slides/slide9.xml"/></Relationships>
</file>

<file path=ppt/charts/_rels/chart-1-3.xml.rels><Relationships xmlns="http://schemas.openxmlformats.org/package/2006/relationships"><Relationship Id="workbook" Type="http://schemas.openxmlformats.org/officeDocument/2006/relationships/package" Target="../embeddings/chart-1-3.xlsx"/></Relationships>
</file>

<file path=ppt/charts/_rels/chart-2-3.xml.rels><Relationships xmlns="http://schemas.openxmlformats.org/package/2006/relationships"><Relationship Id="workbook" Type="http://schemas.openxmlformats.org/officeDocument/2006/relationships/package" Target="../embeddings/chart-2-3.xlsx"/></Relationships>
</file>

<file path=ppt/charts/_rels/chart-3-3.xml.rels><Relationships xmlns="http://schemas.openxmlformats.org/package/2006/relationships"><Relationship Id="workbook" Type="http://schemas.openxmlformats.org/officeDocument/2006/relationships/package" Target="../embeddings/chart-3-3.xlsx"/></Relationships>
</file>

<file path=ppt/charts/_rels/chart-4-3.xml.rels><Relationships xmlns="http://schemas.openxmlformats.org/package/2006/relationships"><Relationship Id="workbook" Type="http://schemas.openxmlformats.org/officeDocument/2006/relationships/package" Target="../embeddings/chart-4-3.xlsx"/></Relationships>
</file>

<file path=ppt/charts/_rels/chart-5-3.xml.rels><Relationships xmlns="http://schemas.openxmlformats.org/package/2006/relationships"><Relationship Id="workbook" Type="http://schemas.openxmlformats.org/officeDocument/2006/relationships/package" Target="../embeddings/chart-5-3.xlsx"/></Relationships>
</file>

<file path=ppt/charts/_rels/chart-8-3.xml.rels><Relationships xmlns="http://schemas.openxmlformats.org/package/2006/relationships"><Relationship Id="workbook" Type="http://schemas.openxmlformats.org/officeDocument/2006/relationships/package" Target="../embeddings/chart-8-3.xlsx"/></Relationships>
</file>

<file path=ppt/charts/_rels/chart-9-3.xml.rels><Relationships xmlns="http://schemas.openxmlformats.org/package/2006/relationships"><Relationship Id="workbook" Type="http://schemas.openxmlformats.org/officeDocument/2006/relationships/package" Target="../embeddings/chart-9-3.xlsx"/></Relationships>
</file>

<file path=ppt/charts/chart-1-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rgbClr val="4472c4"/>
            </a:solidFill>
            <a:ln w="25400">
              <a:solidFill>
                <a:srgbClr val="4472c4"/>
              </a:solidFill>
            </a:ln>
          </c:spPr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72</c:v>
                </c:pt>
                <c:pt idx="3">
                  <c:v>91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</c:dLbls>
        <c:axId val="100"/>
        <c:axId val="200"/>
      </c:barChart>
      <c:catAx>
        <c:axId val="100"/>
        <c:scaling>
          <c:orientation val="minMax"/>
        </c:scaling>
        <c:delete val="0"/>
        <c:axPos val="b"/>
        <c:numFmt formatCode="0&quot; 万元&quot;" sourceLinked="0"/>
        <c:majorTickMark val="none"/>
        <c:minorTickMark val="none"/>
        <c:tickLblPos val="nextTo"/>
        <c:crossAx val="200"/>
        <c:crosses val="autoZero"/>
        <c:auto val="1"/>
        <c:lblAlgn val="ctr"/>
        <c:lblOffset val="100"/>
        <c:spPr>
          <a:ln w="6350">
            <a:solidFill>
              <a:srgbClr val="d8dadd"/>
            </a:solidFill>
          </a:ln>
        </c:spPr>
      </c:catAx>
      <c:valAx>
        <c:axId val="200"/>
        <c:scaling>
          <c:orientation val="minMax"/>
        </c:scaling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numFmt formatCode="0&quot; 万元&quot;" sourceLinked="0"/>
        <c:majorTickMark val="none"/>
        <c:minorTickMark val="none"/>
        <c:tickLblPos val="nextTo"/>
        <c:crossAx val="100"/>
        <c:crosses val="autoZero"/>
        <c:crossBetween val="between"/>
        <c:spPr>
          <a:ln w="6350">
            <a:solidFill>
              <a:srgbClr val="d8dadd"/>
            </a:solidFill>
          </a:ln>
        </c:spPr>
      </c:valAx>
    </c:plotArea>
    <c:legend>
      <c:legendPos val="b"/>
      <c:layout/>
      <c:overlay val="0"/>
    </c:legend>
    <c:plotVisOnly val="1"/>
    <c:dispBlanksAs val="gap"/>
    <c:showDLblsOverMax val="0"/>
  </c:chart>
  <c:externalData r:id="workbook">
    <c:autoUpdate val="0"/>
  </c:externalData>
</c:chartSpace>
</file>

<file path=ppt/charts/chart-2-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rgbClr val="4472c4"/>
            </a:solidFill>
            <a:ln w="25400">
              <a:solidFill>
                <a:srgbClr val="4472c4"/>
              </a:solidFill>
            </a:ln>
          </c:spPr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72</c:v>
                </c:pt>
                <c:pt idx="3">
                  <c:v>91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</c:dLbls>
        <c:axId val="100"/>
        <c:axId val="200"/>
      </c:barChart>
      <c:catAx>
        <c:axId val="100"/>
        <c:scaling>
          <c:orientation val="minMax"/>
        </c:scaling>
        <c:delete val="0"/>
        <c:axPos val="l"/>
        <c:numFmt formatCode="0&quot; 万元&quot;" sourceLinked="0"/>
        <c:majorTickMark val="none"/>
        <c:minorTickMark val="none"/>
        <c:tickLblPos val="nextTo"/>
        <c:crossAx val="200"/>
        <c:crosses val="autoZero"/>
        <c:auto val="1"/>
        <c:lblAlgn val="ctr"/>
        <c:lblOffset val="100"/>
        <c:spPr>
          <a:ln w="6350">
            <a:solidFill>
              <a:srgbClr val="d8dadd"/>
            </a:solidFill>
          </a:ln>
        </c:spPr>
      </c:catAx>
      <c:valAx>
        <c:axId val="200"/>
        <c:scaling>
          <c:orientation val="minMax"/>
        </c:scaling>
        <c:delete val="0"/>
        <c:axPos val="b"/>
        <c:majorGridlines>
          <c:spPr>
            <a:ln w="9525">
              <a:solidFill>
                <a:srgbClr val="e5e7eb"/>
              </a:solidFill>
            </a:ln>
          </c:spPr>
        </c:majorGridlines>
        <c:numFmt formatCode="0&quot; 万元&quot;" sourceLinked="0"/>
        <c:majorTickMark val="none"/>
        <c:minorTickMark val="none"/>
        <c:tickLblPos val="nextTo"/>
        <c:crossAx val="100"/>
        <c:crosses val="autoZero"/>
        <c:crossBetween val="between"/>
        <c:spPr>
          <a:ln w="6350">
            <a:solidFill>
              <a:srgbClr val="d8dadd"/>
            </a:solidFill>
          </a:ln>
        </c:spPr>
      </c:valAx>
    </c:plotArea>
    <c:legend>
      <c:legendPos val="b"/>
      <c:layout/>
      <c:overlay val="0"/>
    </c:legend>
    <c:plotVisOnly val="1"/>
    <c:dispBlanksAs val="gap"/>
    <c:showDLblsOverMax val="0"/>
  </c:chart>
  <c:externalData r:id="workbook">
    <c:autoUpdate val="0"/>
  </c:externalData>
</c:chartSpace>
</file>

<file path=ppt/charts/chart-3-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/>
      <c:line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rgbClr val="4472c4"/>
            </a:solidFill>
            <a:ln w="25400">
              <a:solidFill>
                <a:srgbClr val="4472c4"/>
              </a:solidFill>
            </a:ln>
          </c:spPr>
          <c:marker>
            <c:symbol val="circle"/>
            <c:size val="5"/>
          </c:marker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72</c:v>
                </c:pt>
                <c:pt idx="3">
                  <c:v>91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</c:dLbls>
        <c:axId val="100"/>
        <c:axId val="200"/>
      </c:lineChart>
      <c:catAx>
        <c:axId val="100"/>
        <c:scaling>
          <c:orientation val="minMax"/>
        </c:scaling>
        <c:delete val="0"/>
        <c:axPos val="b"/>
        <c:numFmt formatCode="0&quot; 万元&quot;" sourceLinked="0"/>
        <c:majorTickMark val="none"/>
        <c:minorTickMark val="none"/>
        <c:tickLblPos val="nextTo"/>
        <c:crossAx val="200"/>
        <c:crosses val="autoZero"/>
        <c:auto val="1"/>
        <c:lblAlgn val="ctr"/>
        <c:lblOffset val="100"/>
        <c:spPr>
          <a:ln w="6350">
            <a:solidFill>
              <a:srgbClr val="d8dadd"/>
            </a:solidFill>
          </a:ln>
        </c:spPr>
      </c:catAx>
      <c:valAx>
        <c:axId val="200"/>
        <c:scaling>
          <c:orientation val="minMax"/>
        </c:scaling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numFmt formatCode="0&quot; 万元&quot;" sourceLinked="0"/>
        <c:majorTickMark val="none"/>
        <c:minorTickMark val="none"/>
        <c:tickLblPos val="nextTo"/>
        <c:crossAx val="100"/>
        <c:crosses val="autoZero"/>
        <c:crossBetween val="between"/>
        <c:spPr>
          <a:ln w="6350">
            <a:solidFill>
              <a:srgbClr val="d8dadd"/>
            </a:solidFill>
          </a:ln>
        </c:spPr>
      </c:valAx>
    </c:plotArea>
    <c:legend>
      <c:legendPos val="b"/>
      <c:layout/>
      <c:overlay val="0"/>
    </c:legend>
    <c:plotVisOnly val="1"/>
    <c:dispBlanksAs val="gap"/>
    <c:showDLblsOverMax val="0"/>
  </c:chart>
  <c:externalData r:id="workbook">
    <c:autoUpdate val="0"/>
  </c:externalData>
</c:chartSpace>
</file>

<file path=ppt/charts/chart-4-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rgbClr val="4472c4"/>
            </a:solidFill>
            <a:ln w="25400">
              <a:solidFill>
                <a:srgbClr val="4472c4"/>
              </a:solidFill>
            </a:ln>
          </c:spPr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72</c:v>
                </c:pt>
                <c:pt idx="3">
                  <c:v>91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</c:dLbls>
      </c:pieChart>
    </c:plotArea>
    <c:legend>
      <c:legendPos val="b"/>
      <c:layout/>
      <c:overlay val="0"/>
    </c:legend>
    <c:plotVisOnly val="1"/>
    <c:dispBlanksAs val="gap"/>
    <c:showDLblsOverMax val="0"/>
  </c:chart>
  <c:externalData r:id="workbook">
    <c:autoUpdate val="0"/>
  </c:externalData>
</c:chartSpace>
</file>

<file path=ppt/charts/chart-5-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/>
      <c:scatterChart>
        <c:scatte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</c:spPr>
          <c:marker>
            <c:symbol val="circle"/>
            <c:size val="5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3</c:v>
                </c:pt>
                <c:pt idx="2">
                  <c:v>7</c:v>
                </c:pt>
                <c:pt idx="3">
                  <c:v>12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72</c:v>
                </c:pt>
                <c:pt idx="3">
                  <c:v>91</c:v>
                </c:pt>
              </c:numCache>
            </c:numRef>
          </c:yVal>
          <c:smooth val="0"/>
        </c:ser>
        <c:dLbls>
          <c:showLegendKey val="0"/>
          <c:showVal val="1"/>
          <c:showCatName val="0"/>
          <c:showSerName val="0"/>
          <c:showPercent val="0"/>
        </c:dLbls>
        <c:axId val="100"/>
        <c:axId val="200"/>
      </c:scatterChart>
      <c:valAx>
        <c:axId val="100"/>
        <c:scaling>
          <c:orientation val="minMax"/>
        </c:scaling>
        <c:delete val="0"/>
        <c:axPos val="b"/>
        <c:majorGridlines>
          <c:spPr>
            <a:ln w="9525">
              <a:solidFill>
                <a:srgbClr val="e5e7eb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CN"/>
                  <a:t>投入</a:t>
                </a:r>
              </a:p>
            </c:rich>
          </c:tx>
          <c:layout/>
          <c:overlay val="0"/>
        </c:title>
        <c:numFmt formatCode="0&quot; 万元&quot;" sourceLinked="0"/>
        <c:majorTickMark val="none"/>
        <c:minorTickMark val="none"/>
        <c:tickLblPos val="nextTo"/>
        <c:crossAx val="200"/>
        <c:crosses val="autoZero"/>
        <c:crossBetween val="between"/>
        <c:spPr>
          <a:ln w="6350">
            <a:solidFill>
              <a:srgbClr val="d8dadd"/>
            </a:solidFill>
          </a:ln>
        </c:spPr>
      </c:valAx>
      <c:valAx>
        <c:axId val="200"/>
        <c:scaling>
          <c:orientation val="minMax"/>
        </c:scaling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numFmt formatCode="0&quot; 万元&quot;" sourceLinked="0"/>
        <c:majorTickMark val="none"/>
        <c:minorTickMark val="none"/>
        <c:tickLblPos val="nextTo"/>
        <c:crossAx val="100"/>
        <c:crosses val="autoZero"/>
        <c:crossBetween val="between"/>
        <c:spPr>
          <a:ln w="6350">
            <a:solidFill>
              <a:srgbClr val="d8dadd"/>
            </a:solidFill>
          </a:ln>
        </c:spPr>
      </c:valAx>
    </c:plotArea>
    <c:legend>
      <c:legendPos val="b"/>
      <c:layout/>
      <c:overlay val="0"/>
    </c:legend>
    <c:plotVisOnly val="1"/>
    <c:dispBlanksAs val="gap"/>
    <c:showDLblsOverMax val="0"/>
  </c:chart>
  <c:externalData r:id="workbook">
    <c:autoUpdate val="0"/>
  </c:externalData>
</c:chartSpace>
</file>

<file path=ppt/charts/chart-8-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/>
      <c:area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rgbClr val="4472c4"/>
            </a:solidFill>
            <a:ln w="25400">
              <a:solidFill>
                <a:srgbClr val="4472c4"/>
              </a:solidFill>
            </a:ln>
          </c:spPr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72</c:v>
                </c:pt>
                <c:pt idx="3">
                  <c:v>91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</c:dLbls>
        <c:axId val="100"/>
        <c:axId val="200"/>
      </c:areaChart>
      <c:catAx>
        <c:axId val="100"/>
        <c:scaling>
          <c:orientation val="minMax"/>
        </c:scaling>
        <c:delete val="0"/>
        <c:axPos val="b"/>
        <c:numFmt formatCode="0&quot; 万元&quot;" sourceLinked="0"/>
        <c:majorTickMark val="none"/>
        <c:minorTickMark val="none"/>
        <c:tickLblPos val="nextTo"/>
        <c:crossAx val="200"/>
        <c:crosses val="autoZero"/>
        <c:auto val="1"/>
        <c:lblAlgn val="ctr"/>
        <c:lblOffset val="100"/>
        <c:spPr>
          <a:ln w="6350">
            <a:solidFill>
              <a:srgbClr val="d8dadd"/>
            </a:solidFill>
          </a:ln>
        </c:spPr>
      </c:catAx>
      <c:valAx>
        <c:axId val="200"/>
        <c:scaling>
          <c:orientation val="minMax"/>
        </c:scaling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numFmt formatCode="0&quot; 万元&quot;" sourceLinked="0"/>
        <c:majorTickMark val="none"/>
        <c:minorTickMark val="none"/>
        <c:tickLblPos val="nextTo"/>
        <c:crossAx val="100"/>
        <c:crosses val="autoZero"/>
        <c:crossBetween val="between"/>
        <c:spPr>
          <a:ln w="6350">
            <a:solidFill>
              <a:srgbClr val="d8dadd"/>
            </a:solidFill>
          </a:ln>
        </c:spPr>
      </c:valAx>
    </c:plotArea>
    <c:legend>
      <c:legendPos val="b"/>
      <c:layout/>
      <c:overlay val="0"/>
    </c:legend>
    <c:plotVisOnly val="1"/>
    <c:dispBlanksAs val="gap"/>
    <c:showDLblsOverMax val="0"/>
  </c:chart>
  <c:externalData r:id="workbook">
    <c:autoUpdate val="0"/>
  </c:externalData>
</c:chartSpace>
</file>

<file path=ppt/charts/chart-9-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rgbClr val="4472c4"/>
            </a:solidFill>
            <a:ln w="25400">
              <a:solidFill>
                <a:srgbClr val="4472c4"/>
              </a:solidFill>
            </a:ln>
          </c:spPr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72</c:v>
                </c:pt>
                <c:pt idx="3">
                  <c:v>91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</c:dLbls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externalData r:id="workbook">
    <c:autoUpdate val="0"/>
  </c:externalData>
</c:chartSpace>
</file>

<file path=ppt/notesSlides/_rels/notesSlide1.xml.rels><?xml version="1.0" encoding="UTF-8"?><Relationships xmlns="http://schemas.openxmlformats.org/package/2006/relationships"><Relationship Id="slide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slide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slide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slide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slide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slide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slide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slide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slide" Type="http://schemas.openxmlformats.org/officeDocument/2006/relationships/slide" Target="../slides/slide9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>
          <a:xfrm rot="0">
            <a:off x="1016000" y="101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7b6a7">
                    <a:alpha val="100000"/>
                  </a:srgbClr>
                </a:solidFill>
                <a:latin typeface="sans-serif"/>
                <a:ea typeface="sans-serif"/>
              </a:rPr>
              <a:t xml:space="preserve">私密演讲者备注：第1页，仅在演示者窗口可见。</a:t>
            </a:r>
            <a:endParaRPr sz="2400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>
          <a:xfrm rot="0">
            <a:off x="1016000" y="101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7b6a7">
                    <a:alpha val="100000"/>
                  </a:srgbClr>
                </a:solidFill>
                <a:latin typeface="sans-serif"/>
                <a:ea typeface="sans-serif"/>
              </a:rPr>
              <a:t xml:space="preserve">私密演讲者备注：第2页，仅在演示者窗口可见。</a:t>
            </a:r>
            <a:endParaRPr sz="2400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>
          <a:xfrm rot="0">
            <a:off x="1016000" y="101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7b6a7">
                    <a:alpha val="100000"/>
                  </a:srgbClr>
                </a:solidFill>
                <a:latin typeface="sans-serif"/>
                <a:ea typeface="sans-serif"/>
              </a:rPr>
              <a:t xml:space="preserve">私密演讲者备注：第3页，仅在演示者窗口可见。</a:t>
            </a:r>
            <a:endParaRPr sz="2400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>
          <a:xfrm rot="0">
            <a:off x="1016000" y="101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7b6a7">
                    <a:alpha val="100000"/>
                  </a:srgbClr>
                </a:solidFill>
                <a:latin typeface="sans-serif"/>
                <a:ea typeface="sans-serif"/>
              </a:rPr>
              <a:t xml:space="preserve">私密演讲者备注：第4页，仅在演示者窗口可见。</a:t>
            </a:r>
            <a:endParaRPr sz="2400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>
          <a:xfrm rot="0">
            <a:off x="1016000" y="101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7b6a7">
                    <a:alpha val="100000"/>
                  </a:srgbClr>
                </a:solidFill>
                <a:latin typeface="sans-serif"/>
                <a:ea typeface="sans-serif"/>
              </a:rPr>
              <a:t xml:space="preserve">私密演讲者备注：第5页，仅在演示者窗口可见。</a:t>
            </a:r>
            <a:endParaRPr sz="2400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>
          <a:xfrm rot="0">
            <a:off x="1016000" y="101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7b6a7">
                    <a:alpha val="100000"/>
                  </a:srgbClr>
                </a:solidFill>
                <a:latin typeface="sans-serif"/>
                <a:ea typeface="sans-serif"/>
              </a:rPr>
              <a:t xml:space="preserve">私密演讲者备注：第6页，仅在演示者窗口可见。</a:t>
            </a:r>
            <a:endParaRPr sz="2400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>
          <a:xfrm rot="0">
            <a:off x="1016000" y="101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7b6a7">
                    <a:alpha val="100000"/>
                  </a:srgbClr>
                </a:solidFill>
                <a:latin typeface="sans-serif"/>
                <a:ea typeface="sans-serif"/>
              </a:rPr>
              <a:t xml:space="preserve">私密演讲者备注：第7页，仅在演示者窗口可见。</a:t>
            </a:r>
            <a:endParaRPr sz="2400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>
          <a:xfrm rot="0">
            <a:off x="1016000" y="101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7b6a7">
                    <a:alpha val="100000"/>
                  </a:srgbClr>
                </a:solidFill>
                <a:latin typeface="sans-serif"/>
                <a:ea typeface="sans-serif"/>
              </a:rPr>
              <a:t xml:space="preserve">私密演讲者备注：第8页，仅在演示者窗口可见。</a:t>
            </a:r>
            <a:endParaRPr sz="2400"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>
          <a:xfrm rot="0">
            <a:off x="1016000" y="101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7b6a7">
                    <a:alpha val="100000"/>
                  </a:srgbClr>
                </a:solidFill>
                <a:latin typeface="sans-serif"/>
                <a:ea typeface="sans-serif"/>
              </a:rPr>
              <a:t xml:space="preserve">私密演讲者备注：第9页，仅在演示者窗口可见。</a:t>
            </a:r>
            <a:endParaRPr sz="2400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>
  <p:cSld name="JoyDeck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layout" Type="http://schemas.openxmlformats.org/officeDocument/2006/relationships/slideLayout" Target="../slideLayouts/slideLayout1.xml"/><Relationship Id="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/>
    <p:bodyStyle/>
    <p:otherStyle/>
  </p:txStyles>
</p:sldMaster>
</file>

<file path=ppt/slides/_rels/slide1.xml.rels><?xml version="1.0" encoding="UTF-8"?><Relationships xmlns="http://schemas.openxmlformats.org/package/2006/relationships"><Relationship Id="layout" Type="http://schemas.openxmlformats.org/officeDocument/2006/relationships/slideLayout" Target="../slideLayouts/slideLayout1.xml"/><Relationship Id="chart-1-3" Type="http://schemas.openxmlformats.org/officeDocument/2006/relationships/chart" Target="../charts/chart-1-3.xml"/><Relationship Id="notes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layout" Type="http://schemas.openxmlformats.org/officeDocument/2006/relationships/slideLayout" Target="../slideLayouts/slideLayout1.xml"/><Relationship Id="chart-2-3" Type="http://schemas.openxmlformats.org/officeDocument/2006/relationships/chart" Target="../charts/chart-2-3.xml"/><Relationship Id="notes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layout" Type="http://schemas.openxmlformats.org/officeDocument/2006/relationships/slideLayout" Target="../slideLayouts/slideLayout1.xml"/><Relationship Id="chart-3-3" Type="http://schemas.openxmlformats.org/officeDocument/2006/relationships/chart" Target="../charts/chart-3-3.xml"/><Relationship Id="notes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layout" Type="http://schemas.openxmlformats.org/officeDocument/2006/relationships/slideLayout" Target="../slideLayouts/slideLayout1.xml"/><Relationship Id="chart-4-3" Type="http://schemas.openxmlformats.org/officeDocument/2006/relationships/chart" Target="../charts/chart-4-3.xml"/><Relationship Id="notes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layout" Type="http://schemas.openxmlformats.org/officeDocument/2006/relationships/slideLayout" Target="../slideLayouts/slideLayout1.xml"/><Relationship Id="chart-5-3" Type="http://schemas.openxmlformats.org/officeDocument/2006/relationships/chart" Target="../charts/chart-5-3.xml"/><Relationship Id="notes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layout" Type="http://schemas.openxmlformats.org/officeDocument/2006/relationships/slideLayout" Target="../slideLayouts/slideLayout1.xml"/><Relationship Id="notes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layout" Type="http://schemas.openxmlformats.org/officeDocument/2006/relationships/slideLayout" Target="../slideLayouts/slideLayout1.xml"/><Relationship Id="notes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layout" Type="http://schemas.openxmlformats.org/officeDocument/2006/relationships/slideLayout" Target="../slideLayouts/slideLayout1.xml"/><Relationship Id="chart-8-3" Type="http://schemas.openxmlformats.org/officeDocument/2006/relationships/chart" Target="../charts/chart-8-3.xml"/><Relationship Id="notes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layout" Type="http://schemas.openxmlformats.org/officeDocument/2006/relationships/slideLayout" Target="../slideLayouts/slideLayout1.xml"/><Relationship Id="chart-9-3" Type="http://schemas.openxmlformats.org/officeDocument/2006/relationships/chart" Target="../charts/chart-9-3.xml"/><Relationship Id="notes" Type="http://schemas.openxmlformats.org/officeDocument/2006/relationships/notesSlide" Target="../notesSlides/notesSlide9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 name="季度业务表现 · 柱形图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0"/>
          <p:cNvSpPr txBox="1"/>
          <p:nvPr/>
        </p:nvSpPr>
        <p:spPr>
          <a:xfrm rot="0">
            <a:off x="685800" y="406400"/>
            <a:ext cx="10795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3000" b="0" i="0">
                <a:solidFill>
                  <a:srgbClr val="20334d">
                    <a:alpha val="100000"/>
                  </a:srgbClr>
                </a:solidFill>
                <a:latin typeface="sans-serif"/>
                <a:ea typeface="sans-serif"/>
              </a:rPr>
              <a:t xml:space="preserve">季度业务表现 · 柱形图</a:t>
            </a:r>
            <a:endParaRPr sz="3000"/>
          </a:p>
        </p:txBody>
      </p:sp>
      <p:graphicFrame>
        <p:nvGraphicFramePr>
          <p:cNvPr id="3" name="content-0"/>
          <p:cNvGraphicFramePr/>
          <p:nvPr/>
        </p:nvGraphicFramePr>
        <p:xfrm rot="0">
          <a:off x="939800" y="1549400"/>
          <a:ext cx="103124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chart-1-3"/>
          </a:graphicData>
        </a:graphic>
      </p:graphicFrame>
      <p:sp>
        <p:nvSpPr>
          <p:cNvPr id="4" name="footer-0"/>
          <p:cNvSpPr txBox="1"/>
          <p:nvPr/>
        </p:nvSpPr>
        <p:spPr>
          <a:xfrm rot="0">
            <a:off x="685800" y="6223000"/>
            <a:ext cx="1079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1300" b="0" i="0">
                <a:solidFill>
                  <a:srgbClr val="777777">
                    <a:alpha val="100000"/>
                  </a:srgbClr>
                </a:solidFill>
                <a:latin typeface="sans-serif"/>
                <a:ea typeface="sans-serif"/>
              </a:rPr>
              <a:t xml:space="preserve">FY 2026    /    JoyDeck 原创开发验证样例</a:t>
            </a:r>
            <a:endParaRPr sz="13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00" fill="hold">
                      <p:stCondLst>
                        <p:cond delay="indefinite"/>
                      </p:stCondLst>
                      <p:childTnLst>
                        <p:par>
                          <p:cTn id="3001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nodeType="clickEffect" dur="600" fill="hold" repeatCount="1000" autoRev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!-- independent public import --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 name="季度业务表现 · 条形图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"/>
          <p:cNvSpPr txBox="1"/>
          <p:nvPr/>
        </p:nvSpPr>
        <p:spPr>
          <a:xfrm rot="0">
            <a:off x="685800" y="406400"/>
            <a:ext cx="10795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3000" b="0" i="0">
                <a:solidFill>
                  <a:srgbClr val="20334d">
                    <a:alpha val="100000"/>
                  </a:srgbClr>
                </a:solidFill>
                <a:latin typeface="sans-serif"/>
                <a:ea typeface="sans-serif"/>
              </a:rPr>
              <a:t xml:space="preserve">季度业务表现 · 条形图</a:t>
            </a:r>
            <a:endParaRPr sz="3000"/>
          </a:p>
        </p:txBody>
      </p:sp>
      <p:graphicFrame>
        <p:nvGraphicFramePr>
          <p:cNvPr id="3" name="content-1"/>
          <p:cNvGraphicFramePr/>
          <p:nvPr/>
        </p:nvGraphicFramePr>
        <p:xfrm rot="0">
          <a:off x="939800" y="1549400"/>
          <a:ext cx="103124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chart-2-3"/>
          </a:graphicData>
        </a:graphic>
      </p:graphicFrame>
      <p:sp>
        <p:nvSpPr>
          <p:cNvPr id="4" name="footer-1"/>
          <p:cNvSpPr txBox="1"/>
          <p:nvPr/>
        </p:nvSpPr>
        <p:spPr>
          <a:xfrm rot="0">
            <a:off x="685800" y="6223000"/>
            <a:ext cx="1079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1300" b="0" i="0">
                <a:solidFill>
                  <a:srgbClr val="777777">
                    <a:alpha val="100000"/>
                  </a:srgbClr>
                </a:solidFill>
                <a:latin typeface="sans-serif"/>
                <a:ea typeface="sans-serif"/>
              </a:rPr>
              <a:t xml:space="preserve">FY 2026    /    JoyDeck 原创开发验证样例</a:t>
            </a:r>
            <a:endParaRPr sz="1300"/>
          </a:p>
        </p:txBody>
      </p:sp>
    </p:spTree>
  </p:cSld>
  <p:clrMapOvr>
    <a:masterClrMapping/>
  </p:clrMapOvr>
  <p:transition xmlns:p14="http://schemas.microsoft.com/office/powerpoint/2010/main" spd="med" p14:dur="600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00" fill="hold">
                      <p:stCondLst>
                        <p:cond delay="indefinite"/>
                      </p:stCondLst>
                      <p:childTnLst>
                        <p:par>
                          <p:cTn id="3001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nodeType="clickEffect" dur="600" fill="hold" repeatCount="1000" autoRev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 name="季度业务表现 · 折线图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2"/>
          <p:cNvSpPr txBox="1"/>
          <p:nvPr/>
        </p:nvSpPr>
        <p:spPr>
          <a:xfrm rot="0">
            <a:off x="685800" y="406400"/>
            <a:ext cx="10795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3000" b="0" i="0">
                <a:solidFill>
                  <a:srgbClr val="20334d">
                    <a:alpha val="100000"/>
                  </a:srgbClr>
                </a:solidFill>
                <a:latin typeface="sans-serif"/>
                <a:ea typeface="sans-serif"/>
              </a:rPr>
              <a:t xml:space="preserve">季度业务表现 · 折线图</a:t>
            </a:r>
            <a:endParaRPr sz="3000"/>
          </a:p>
        </p:txBody>
      </p:sp>
      <p:graphicFrame>
        <p:nvGraphicFramePr>
          <p:cNvPr id="3" name="content-2"/>
          <p:cNvGraphicFramePr/>
          <p:nvPr/>
        </p:nvGraphicFramePr>
        <p:xfrm rot="0">
          <a:off x="939800" y="1549400"/>
          <a:ext cx="103124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chart-3-3"/>
          </a:graphicData>
        </a:graphic>
      </p:graphicFrame>
      <p:sp>
        <p:nvSpPr>
          <p:cNvPr id="4" name="footer-2"/>
          <p:cNvSpPr txBox="1"/>
          <p:nvPr/>
        </p:nvSpPr>
        <p:spPr>
          <a:xfrm rot="0">
            <a:off x="685800" y="6223000"/>
            <a:ext cx="1079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1300" b="0" i="0">
                <a:solidFill>
                  <a:srgbClr val="777777">
                    <a:alpha val="100000"/>
                  </a:srgbClr>
                </a:solidFill>
                <a:latin typeface="sans-serif"/>
                <a:ea typeface="sans-serif"/>
              </a:rPr>
              <a:t xml:space="preserve">FY 2026    /    JoyDeck 原创开发验证样例</a:t>
            </a:r>
            <a:endParaRPr sz="1300"/>
          </a:p>
        </p:txBody>
      </p:sp>
    </p:spTree>
  </p:cSld>
  <p:clrMapOvr>
    <a:masterClrMapping/>
  </p:clrMapOvr>
  <p:transition xmlns:p14="http://schemas.microsoft.com/office/powerpoint/2010/main" spd="med" p14:dur="600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00" fill="hold">
                      <p:stCondLst>
                        <p:cond delay="indefinite"/>
                      </p:stCondLst>
                      <p:childTnLst>
                        <p:par>
                          <p:cTn id="3001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nodeType="clickEffect" dur="600" fill="hold" repeatCount="1000" autoRev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 name="季度业务表现 · 饼图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3"/>
          <p:cNvSpPr txBox="1"/>
          <p:nvPr/>
        </p:nvSpPr>
        <p:spPr>
          <a:xfrm rot="0">
            <a:off x="685800" y="406400"/>
            <a:ext cx="10795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3000" b="0" i="0">
                <a:solidFill>
                  <a:srgbClr val="20334d">
                    <a:alpha val="100000"/>
                  </a:srgbClr>
                </a:solidFill>
                <a:latin typeface="sans-serif"/>
                <a:ea typeface="sans-serif"/>
              </a:rPr>
              <a:t xml:space="preserve">季度业务表现 · 饼图</a:t>
            </a:r>
            <a:endParaRPr sz="3000"/>
          </a:p>
        </p:txBody>
      </p:sp>
      <p:graphicFrame>
        <p:nvGraphicFramePr>
          <p:cNvPr id="3" name="content-3"/>
          <p:cNvGraphicFramePr/>
          <p:nvPr/>
        </p:nvGraphicFramePr>
        <p:xfrm rot="0">
          <a:off x="939800" y="1549400"/>
          <a:ext cx="103124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chart-4-3"/>
          </a:graphicData>
        </a:graphic>
      </p:graphicFrame>
      <p:sp>
        <p:nvSpPr>
          <p:cNvPr id="4" name="footer-3"/>
          <p:cNvSpPr txBox="1"/>
          <p:nvPr/>
        </p:nvSpPr>
        <p:spPr>
          <a:xfrm rot="0">
            <a:off x="685800" y="6223000"/>
            <a:ext cx="1079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1300" b="0" i="0">
                <a:solidFill>
                  <a:srgbClr val="777777">
                    <a:alpha val="100000"/>
                  </a:srgbClr>
                </a:solidFill>
                <a:latin typeface="sans-serif"/>
                <a:ea typeface="sans-serif"/>
              </a:rPr>
              <a:t xml:space="preserve">FY 2026    /    JoyDeck 原创开发验证样例</a:t>
            </a:r>
            <a:endParaRPr sz="1300"/>
          </a:p>
        </p:txBody>
      </p:sp>
    </p:spTree>
  </p:cSld>
  <p:clrMapOvr>
    <a:masterClrMapping/>
  </p:clrMapOvr>
  <p:transition xmlns:p14="http://schemas.microsoft.com/office/powerpoint/2010/main" spd="med" p14:dur="600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00" fill="hold">
                      <p:stCondLst>
                        <p:cond delay="indefinite"/>
                      </p:stCondLst>
                      <p:childTnLst>
                        <p:par>
                          <p:cTn id="3001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nodeType="clickEffect" dur="600" fill="hold" repeatCount="1000" autoRev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 name="季度业务表现 · 散点图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4"/>
          <p:cNvSpPr txBox="1"/>
          <p:nvPr/>
        </p:nvSpPr>
        <p:spPr>
          <a:xfrm rot="0">
            <a:off x="685800" y="406400"/>
            <a:ext cx="10795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3000" b="0" i="0">
                <a:solidFill>
                  <a:srgbClr val="20334d">
                    <a:alpha val="100000"/>
                  </a:srgbClr>
                </a:solidFill>
                <a:latin typeface="sans-serif"/>
                <a:ea typeface="sans-serif"/>
              </a:rPr>
              <a:t xml:space="preserve">季度业务表现 · 散点图</a:t>
            </a:r>
            <a:endParaRPr sz="3000"/>
          </a:p>
        </p:txBody>
      </p:sp>
      <p:graphicFrame>
        <p:nvGraphicFramePr>
          <p:cNvPr id="3" name="content-4"/>
          <p:cNvGraphicFramePr/>
          <p:nvPr/>
        </p:nvGraphicFramePr>
        <p:xfrm rot="0">
          <a:off x="939800" y="1549400"/>
          <a:ext cx="103124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chart-5-3"/>
          </a:graphicData>
        </a:graphic>
      </p:graphicFrame>
      <p:sp>
        <p:nvSpPr>
          <p:cNvPr id="4" name="footer-4"/>
          <p:cNvSpPr txBox="1"/>
          <p:nvPr/>
        </p:nvSpPr>
        <p:spPr>
          <a:xfrm rot="0">
            <a:off x="685800" y="6223000"/>
            <a:ext cx="1079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1300" b="0" i="0">
                <a:solidFill>
                  <a:srgbClr val="777777">
                    <a:alpha val="100000"/>
                  </a:srgbClr>
                </a:solidFill>
                <a:latin typeface="sans-serif"/>
                <a:ea typeface="sans-serif"/>
              </a:rPr>
              <a:t xml:space="preserve">FY 2026    /    JoyDeck 原创开发验证样例</a:t>
            </a:r>
            <a:endParaRPr sz="1300"/>
          </a:p>
        </p:txBody>
      </p:sp>
    </p:spTree>
  </p:cSld>
  <p:clrMapOvr>
    <a:masterClrMapping/>
  </p:clrMapOvr>
  <p:transition xmlns:p14="http://schemas.microsoft.com/office/powerpoint/2010/main" spd="med" p14:dur="600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00" fill="hold">
                      <p:stCondLst>
                        <p:cond delay="indefinite"/>
                      </p:stCondLst>
                      <p:childTnLst>
                        <p:par>
                          <p:cTn id="3001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nodeType="clickEffect" dur="600" fill="hold" repeatCount="1000" autoRev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 name="从计划到成果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5"/>
          <p:cNvSpPr txBox="1"/>
          <p:nvPr/>
        </p:nvSpPr>
        <p:spPr>
          <a:xfrm rot="0">
            <a:off x="685800" y="406400"/>
            <a:ext cx="10795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3000" b="0" i="0">
                <a:solidFill>
                  <a:srgbClr val="20334d">
                    <a:alpha val="100000"/>
                  </a:srgbClr>
                </a:solidFill>
                <a:latin typeface="sans-serif"/>
                <a:ea typeface="sans-serif"/>
              </a:rPr>
              <a:t xml:space="preserve">从计划到成果</a:t>
            </a:r>
            <a:endParaRPr sz="3000"/>
          </a:p>
        </p:txBody>
      </p:sp>
      <p:grpSp>
        <p:nvGrpSpPr>
          <p:cNvPr id="3" name="content-5"/>
          <p:cNvGrpSpPr/>
          <p:nvPr/>
        </p:nvGrpSpPr>
        <p:grpSpPr>
          <a:xfrm rot="0">
            <a:off x="939800" y="1549400"/>
            <a:ext cx="10312400" cy="4191000"/>
            <a:chOff x="939800" y="1549400"/>
            <a:chExt cx="10312400" cy="4191000"/>
          </a:xfrm>
        </p:grpSpPr>
        <p:sp>
          <p:nvSpPr>
            <p:cNvPr id="1000768" name="content-5:node:0"/>
            <p:cNvSpPr txBox="0"/>
            <p:nvPr/>
          </p:nvSpPr>
          <p:spPr>
            <a:xfrm rot="0">
              <a:off x="939800" y="2597150"/>
              <a:ext cx="2921847" cy="2095500"/>
            </a:xfrm>
            <a:prstGeom prst="roundRect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</p:sp>
        <p:sp>
          <p:nvSpPr>
            <p:cNvPr id="1000769" name="content-5:text:0"/>
            <p:cNvSpPr txBox="1"/>
            <p:nvPr/>
          </p:nvSpPr>
          <p:spPr>
            <a:xfrm rot="0">
              <a:off x="1016000" y="3121025"/>
              <a:ext cx="2769447" cy="1466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/>
            <a:lstStyle/>
            <a:p>
              <a:pPr>
                <a:lnSpc>
                  <a:spcPct val="130000"/>
                </a:lnSpc>
              </a:pPr>
              <a:r>
                <a:rPr lang="zh-CN" sz="2400" b="0" i="0">
                  <a:solidFill>
                    <a:srgbClr val="ffffff">
                      <a:alpha val="100000"/>
                    </a:srgbClr>
                  </a:solidFill>
                  <a:latin typeface="sans-serif"/>
                  <a:ea typeface="sans-serif"/>
                </a:rPr>
                <a:t xml:space="preserve">制定计划</a:t>
              </a:r>
              <a:endParaRPr sz="2400"/>
            </a:p>
          </p:txBody>
        </p:sp>
        <p:sp>
          <p:nvSpPr>
            <p:cNvPr id="1000770" name="content-5:arrow:0"/>
            <p:cNvSpPr txBox="0"/>
            <p:nvPr/>
          </p:nvSpPr>
          <p:spPr>
            <a:xfrm rot="0">
              <a:off x="3887046" y="3435350"/>
              <a:ext cx="464820" cy="419100"/>
            </a:xfrm>
            <a:prstGeom prst="rightArrow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</p:sp>
        <p:sp>
          <p:nvSpPr>
            <p:cNvPr id="1000771" name="content-5:node:1"/>
            <p:cNvSpPr txBox="0"/>
            <p:nvPr/>
          </p:nvSpPr>
          <p:spPr>
            <a:xfrm rot="0">
              <a:off x="4377267" y="2597150"/>
              <a:ext cx="2921847" cy="2095500"/>
            </a:xfrm>
            <a:prstGeom prst="roundRect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</p:sp>
        <p:sp>
          <p:nvSpPr>
            <p:cNvPr id="1000772" name="content-5:text:1"/>
            <p:cNvSpPr txBox="1"/>
            <p:nvPr/>
          </p:nvSpPr>
          <p:spPr>
            <a:xfrm rot="0">
              <a:off x="4453467" y="3121025"/>
              <a:ext cx="2769447" cy="1466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/>
            <a:lstStyle/>
            <a:p>
              <a:pPr>
                <a:lnSpc>
                  <a:spcPct val="130000"/>
                </a:lnSpc>
              </a:pPr>
              <a:r>
                <a:rPr lang="zh-CN" sz="2400" b="0" i="0">
                  <a:solidFill>
                    <a:srgbClr val="ffffff">
                      <a:alpha val="100000"/>
                    </a:srgbClr>
                  </a:solidFill>
                  <a:latin typeface="sans-serif"/>
                  <a:ea typeface="sans-serif"/>
                </a:rPr>
                <a:t xml:space="preserve">组织实施</a:t>
              </a:r>
              <a:endParaRPr sz="2400"/>
            </a:p>
          </p:txBody>
        </p:sp>
        <p:sp>
          <p:nvSpPr>
            <p:cNvPr id="1000773" name="content-5:arrow:1"/>
            <p:cNvSpPr txBox="0"/>
            <p:nvPr/>
          </p:nvSpPr>
          <p:spPr>
            <a:xfrm rot="0">
              <a:off x="7324513" y="3435350"/>
              <a:ext cx="464820" cy="419100"/>
            </a:xfrm>
            <a:prstGeom prst="rightArrow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</p:sp>
        <p:sp>
          <p:nvSpPr>
            <p:cNvPr id="1000774" name="content-5:node:2"/>
            <p:cNvSpPr txBox="0"/>
            <p:nvPr/>
          </p:nvSpPr>
          <p:spPr>
            <a:xfrm rot="0">
              <a:off x="7814733" y="2597150"/>
              <a:ext cx="2921847" cy="2095500"/>
            </a:xfrm>
            <a:prstGeom prst="roundRect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</p:sp>
        <p:sp>
          <p:nvSpPr>
            <p:cNvPr id="1000775" name="content-5:text:2"/>
            <p:cNvSpPr txBox="1"/>
            <p:nvPr/>
          </p:nvSpPr>
          <p:spPr>
            <a:xfrm rot="0">
              <a:off x="7890933" y="3121025"/>
              <a:ext cx="2769447" cy="1466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/>
            <a:lstStyle/>
            <a:p>
              <a:pPr>
                <a:lnSpc>
                  <a:spcPct val="130000"/>
                </a:lnSpc>
              </a:pPr>
              <a:r>
                <a:rPr lang="zh-CN" sz="2400" b="0" i="0">
                  <a:solidFill>
                    <a:srgbClr val="ffffff">
                      <a:alpha val="100000"/>
                    </a:srgbClr>
                  </a:solidFill>
                  <a:latin typeface="sans-serif"/>
                  <a:ea typeface="sans-serif"/>
                </a:rPr>
                <a:t xml:space="preserve">评估优化</a:t>
              </a:r>
              <a:endParaRPr sz="2400"/>
            </a:p>
          </p:txBody>
        </p:sp>
      </p:grpSp>
      <p:sp>
        <p:nvSpPr>
          <p:cNvPr id="4" name="footer-5"/>
          <p:cNvSpPr txBox="1"/>
          <p:nvPr/>
        </p:nvSpPr>
        <p:spPr>
          <a:xfrm rot="0">
            <a:off x="685800" y="6223000"/>
            <a:ext cx="1079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1300" b="0" i="0">
                <a:solidFill>
                  <a:srgbClr val="777777">
                    <a:alpha val="100000"/>
                  </a:srgbClr>
                </a:solidFill>
                <a:latin typeface="sans-serif"/>
                <a:ea typeface="sans-serif"/>
              </a:rPr>
              <a:t xml:space="preserve">FY 2026    /    JoyDeck 原创开发验证样例</a:t>
            </a:r>
            <a:endParaRPr sz="1300"/>
          </a:p>
        </p:txBody>
      </p:sp>
    </p:spTree>
  </p:cSld>
  <p:clrMapOvr>
    <a:masterClrMapping/>
  </p:clrMapOvr>
  <p:transition xmlns:p14="http://schemas.microsoft.com/office/powerpoint/2010/main" spd="med" p14:dur="600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00" fill="hold">
                      <p:stCondLst>
                        <p:cond delay="indefinite"/>
                      </p:stCondLst>
                      <p:childTnLst>
                        <p:par>
                          <p:cTn id="3001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nodeType="clickEffect" dur="600" fill="hold" repeatCount="1000" autoRev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 name="从计划到成果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6"/>
          <p:cNvSpPr txBox="1"/>
          <p:nvPr/>
        </p:nvSpPr>
        <p:spPr>
          <a:xfrm rot="0">
            <a:off x="685800" y="406400"/>
            <a:ext cx="10795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3000" b="0" i="0">
                <a:solidFill>
                  <a:srgbClr val="20334d">
                    <a:alpha val="100000"/>
                  </a:srgbClr>
                </a:solidFill>
                <a:latin typeface="sans-serif"/>
                <a:ea typeface="sans-serif"/>
              </a:rPr>
              <a:t xml:space="preserve">从计划到成果</a:t>
            </a:r>
            <a:endParaRPr sz="3000"/>
          </a:p>
        </p:txBody>
      </p:sp>
      <p:grpSp>
        <p:nvGrpSpPr>
          <p:cNvPr id="3" name="content-6"/>
          <p:cNvGrpSpPr/>
          <p:nvPr/>
        </p:nvGrpSpPr>
        <p:grpSpPr>
          <a:xfrm rot="0">
            <a:off x="939800" y="1549400"/>
            <a:ext cx="10312400" cy="4191000"/>
            <a:chOff x="939800" y="1549400"/>
            <a:chExt cx="10312400" cy="4191000"/>
          </a:xfrm>
        </p:grpSpPr>
        <p:sp>
          <p:nvSpPr>
            <p:cNvPr id="1000768" name="content-6:connector:1"/>
            <p:cNvSpPr txBox="0"/>
            <p:nvPr/>
          </p:nvSpPr>
          <p:spPr>
            <a:xfrm rot="10193081">
              <a:off x="3498664" y="2716530"/>
              <a:ext cx="2616571" cy="12700"/>
            </a:xfrm>
            <a:prstGeom prst="line">
              <a:avLst/>
            </a:prstGeom>
            <a:noFill/>
            <a:ln w="25400">
              <a:solidFill>
                <a:srgbClr val="4472c4">
                  <a:alpha val="100000"/>
                </a:srgbClr>
              </a:solidFill>
            </a:ln>
          </p:spPr>
        </p:sp>
        <p:sp>
          <p:nvSpPr>
            <p:cNvPr id="1000769" name="content-6:connector:2"/>
            <p:cNvSpPr txBox="0"/>
            <p:nvPr/>
          </p:nvSpPr>
          <p:spPr>
            <a:xfrm rot="573548">
              <a:off x="3498664" y="4113530"/>
              <a:ext cx="2616571" cy="12700"/>
            </a:xfrm>
            <a:prstGeom prst="line">
              <a:avLst/>
            </a:prstGeom>
            <a:noFill/>
            <a:ln w="25400">
              <a:solidFill>
                <a:srgbClr val="4472c4">
                  <a:alpha val="100000"/>
                </a:srgbClr>
              </a:solidFill>
            </a:ln>
          </p:spPr>
        </p:sp>
        <p:sp>
          <p:nvSpPr>
            <p:cNvPr id="1000770" name="content-6:connector:3"/>
            <p:cNvSpPr txBox="0"/>
            <p:nvPr/>
          </p:nvSpPr>
          <p:spPr>
            <a:xfrm rot="573547">
              <a:off x="6076764" y="2716530"/>
              <a:ext cx="2616571" cy="12700"/>
            </a:xfrm>
            <a:prstGeom prst="line">
              <a:avLst/>
            </a:prstGeom>
            <a:noFill/>
            <a:ln w="25400">
              <a:solidFill>
                <a:srgbClr val="4472c4">
                  <a:alpha val="100000"/>
                </a:srgbClr>
              </a:solidFill>
            </a:ln>
          </p:spPr>
        </p:sp>
        <p:sp>
          <p:nvSpPr>
            <p:cNvPr id="1000771" name="content-6:node:0"/>
            <p:cNvSpPr txBox="0"/>
            <p:nvPr/>
          </p:nvSpPr>
          <p:spPr>
            <a:xfrm rot="0">
              <a:off x="990600" y="1549400"/>
              <a:ext cx="10210800" cy="949960"/>
            </a:xfrm>
            <a:prstGeom prst="roundRect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</p:sp>
        <p:sp>
          <p:nvSpPr>
            <p:cNvPr id="1000772" name="content-6:text:0"/>
            <p:cNvSpPr txBox="1"/>
            <p:nvPr/>
          </p:nvSpPr>
          <p:spPr>
            <a:xfrm rot="0">
              <a:off x="1066800" y="1786890"/>
              <a:ext cx="10058400" cy="6649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/>
            <a:lstStyle/>
            <a:p>
              <a:pPr>
                <a:lnSpc>
                  <a:spcPct val="130000"/>
                </a:lnSpc>
              </a:pPr>
              <a:r>
                <a:rPr lang="zh-CN" sz="2400" b="0" i="0">
                  <a:solidFill>
                    <a:srgbClr val="ffffff">
                      <a:alpha val="100000"/>
                    </a:srgbClr>
                  </a:solidFill>
                  <a:latin typeface="sans-serif"/>
                  <a:ea typeface="sans-serif"/>
                </a:rPr>
                <a:t xml:space="preserve">业务计划</a:t>
              </a:r>
              <a:endParaRPr sz="2400"/>
            </a:p>
          </p:txBody>
        </p:sp>
        <p:sp>
          <p:nvSpPr>
            <p:cNvPr id="1000773" name="content-6:node:1"/>
            <p:cNvSpPr txBox="0"/>
            <p:nvPr/>
          </p:nvSpPr>
          <p:spPr>
            <a:xfrm rot="0">
              <a:off x="990600" y="2946400"/>
              <a:ext cx="5054600" cy="949960"/>
            </a:xfrm>
            <a:prstGeom prst="roundRect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</p:sp>
        <p:sp>
          <p:nvSpPr>
            <p:cNvPr id="1000774" name="content-6:text:1"/>
            <p:cNvSpPr txBox="1"/>
            <p:nvPr/>
          </p:nvSpPr>
          <p:spPr>
            <a:xfrm rot="0">
              <a:off x="1066800" y="3183890"/>
              <a:ext cx="4902200" cy="6649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/>
            <a:lstStyle/>
            <a:p>
              <a:pPr>
                <a:lnSpc>
                  <a:spcPct val="130000"/>
                </a:lnSpc>
              </a:pPr>
              <a:r>
                <a:rPr lang="zh-CN" sz="2400" b="0" i="0">
                  <a:solidFill>
                    <a:srgbClr val="ffffff">
                      <a:alpha val="100000"/>
                    </a:srgbClr>
                  </a:solidFill>
                  <a:latin typeface="sans-serif"/>
                  <a:ea typeface="sans-serif"/>
                </a:rPr>
                <a:t xml:space="preserve">客户增长</a:t>
              </a:r>
              <a:endParaRPr sz="2400"/>
            </a:p>
          </p:txBody>
        </p:sp>
        <p:sp>
          <p:nvSpPr>
            <p:cNvPr id="1000775" name="content-6:node:2"/>
            <p:cNvSpPr txBox="0"/>
            <p:nvPr/>
          </p:nvSpPr>
          <p:spPr>
            <a:xfrm rot="0">
              <a:off x="990600" y="4343400"/>
              <a:ext cx="10210800" cy="949960"/>
            </a:xfrm>
            <a:prstGeom prst="roundRect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</p:sp>
        <p:sp>
          <p:nvSpPr>
            <p:cNvPr id="1000776" name="content-6:text:2"/>
            <p:cNvSpPr txBox="1"/>
            <p:nvPr/>
          </p:nvSpPr>
          <p:spPr>
            <a:xfrm rot="0">
              <a:off x="1066800" y="4580890"/>
              <a:ext cx="10058400" cy="6649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/>
            <a:lstStyle/>
            <a:p>
              <a:pPr>
                <a:lnSpc>
                  <a:spcPct val="130000"/>
                </a:lnSpc>
              </a:pPr>
              <a:r>
                <a:rPr lang="zh-CN" sz="2400" b="0" i="0">
                  <a:solidFill>
                    <a:srgbClr val="ffffff">
                      <a:alpha val="100000"/>
                    </a:srgbClr>
                  </a:solidFill>
                  <a:latin typeface="sans-serif"/>
                  <a:ea typeface="sans-serif"/>
                </a:rPr>
                <a:t xml:space="preserve">客户体验</a:t>
              </a:r>
              <a:endParaRPr sz="2400"/>
            </a:p>
          </p:txBody>
        </p:sp>
        <p:sp>
          <p:nvSpPr>
            <p:cNvPr id="1000777" name="content-6:node:3"/>
            <p:cNvSpPr txBox="0"/>
            <p:nvPr/>
          </p:nvSpPr>
          <p:spPr>
            <a:xfrm rot="0">
              <a:off x="6146800" y="2946400"/>
              <a:ext cx="5054600" cy="949960"/>
            </a:xfrm>
            <a:prstGeom prst="roundRect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</p:sp>
        <p:sp>
          <p:nvSpPr>
            <p:cNvPr id="1000778" name="content-6:text:3"/>
            <p:cNvSpPr txBox="1"/>
            <p:nvPr/>
          </p:nvSpPr>
          <p:spPr>
            <a:xfrm rot="0">
              <a:off x="6223000" y="3183890"/>
              <a:ext cx="4902200" cy="6649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/>
            <a:lstStyle/>
            <a:p>
              <a:pPr>
                <a:lnSpc>
                  <a:spcPct val="130000"/>
                </a:lnSpc>
              </a:pPr>
              <a:r>
                <a:rPr lang="zh-CN" sz="2400" b="0" i="0">
                  <a:solidFill>
                    <a:srgbClr val="ffffff">
                      <a:alpha val="100000"/>
                    </a:srgbClr>
                  </a:solidFill>
                  <a:latin typeface="sans-serif"/>
                  <a:ea typeface="sans-serif"/>
                </a:rPr>
                <a:t xml:space="preserve">产品迭代</a:t>
              </a:r>
              <a:endParaRPr sz="2400"/>
            </a:p>
          </p:txBody>
        </p:sp>
      </p:grpSp>
      <p:sp>
        <p:nvSpPr>
          <p:cNvPr id="4" name="footer-6"/>
          <p:cNvSpPr txBox="1"/>
          <p:nvPr/>
        </p:nvSpPr>
        <p:spPr>
          <a:xfrm rot="0">
            <a:off x="685800" y="6223000"/>
            <a:ext cx="1079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1300" b="0" i="0">
                <a:solidFill>
                  <a:srgbClr val="777777">
                    <a:alpha val="100000"/>
                  </a:srgbClr>
                </a:solidFill>
                <a:latin typeface="sans-serif"/>
                <a:ea typeface="sans-serif"/>
              </a:rPr>
              <a:t xml:space="preserve">FY 2026    /    JoyDeck 原创开发验证样例</a:t>
            </a:r>
            <a:endParaRPr sz="1300"/>
          </a:p>
        </p:txBody>
      </p:sp>
    </p:spTree>
  </p:cSld>
  <p:clrMapOvr>
    <a:masterClrMapping/>
  </p:clrMapOvr>
  <p:transition xmlns:p14="http://schemas.microsoft.com/office/powerpoint/2010/main" spd="med" p14:dur="600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00" fill="hold">
                      <p:stCondLst>
                        <p:cond delay="indefinite"/>
                      </p:stCondLst>
                      <p:childTnLst>
                        <p:par>
                          <p:cTn id="3001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nodeType="clickEffect" dur="600" fill="hold" repeatCount="1000" autoRev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 name="季度业务表现 · 面积图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7"/>
          <p:cNvSpPr txBox="1"/>
          <p:nvPr/>
        </p:nvSpPr>
        <p:spPr>
          <a:xfrm rot="0">
            <a:off x="685800" y="406400"/>
            <a:ext cx="10795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3000" b="0" i="0">
                <a:solidFill>
                  <a:srgbClr val="20334d">
                    <a:alpha val="100000"/>
                  </a:srgbClr>
                </a:solidFill>
                <a:latin typeface="sans-serif"/>
                <a:ea typeface="sans-serif"/>
              </a:rPr>
              <a:t xml:space="preserve">季度业务表现 · 面积图</a:t>
            </a:r>
            <a:endParaRPr sz="3000"/>
          </a:p>
        </p:txBody>
      </p:sp>
      <p:graphicFrame>
        <p:nvGraphicFramePr>
          <p:cNvPr id="3" name="content-7"/>
          <p:cNvGraphicFramePr/>
          <p:nvPr/>
        </p:nvGraphicFramePr>
        <p:xfrm rot="0">
          <a:off x="939800" y="1549400"/>
          <a:ext cx="103124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chart-8-3"/>
          </a:graphicData>
        </a:graphic>
      </p:graphicFrame>
      <p:sp>
        <p:nvSpPr>
          <p:cNvPr id="4" name="footer-7"/>
          <p:cNvSpPr txBox="1"/>
          <p:nvPr/>
        </p:nvSpPr>
        <p:spPr>
          <a:xfrm rot="0">
            <a:off x="685800" y="6223000"/>
            <a:ext cx="1079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1300" b="0" i="0">
                <a:solidFill>
                  <a:srgbClr val="777777">
                    <a:alpha val="100000"/>
                  </a:srgbClr>
                </a:solidFill>
                <a:latin typeface="sans-serif"/>
                <a:ea typeface="sans-serif"/>
              </a:rPr>
              <a:t xml:space="preserve">FY 2026    /    JoyDeck 原创开发验证样例</a:t>
            </a:r>
            <a:endParaRPr sz="1300"/>
          </a:p>
        </p:txBody>
      </p:sp>
    </p:spTree>
  </p:cSld>
  <p:clrMapOvr>
    <a:masterClrMapping/>
  </p:clrMapOvr>
  <p:transition xmlns:p14="http://schemas.microsoft.com/office/powerpoint/2010/main" spd="med" p14:dur="600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00" fill="hold">
                      <p:stCondLst>
                        <p:cond delay="indefinite"/>
                      </p:stCondLst>
                      <p:childTnLst>
                        <p:par>
                          <p:cTn id="3001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nodeType="clickEffect" dur="600" fill="hold" repeatCount="1000" autoRev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 name="季度业务表现 · 环形图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8"/>
          <p:cNvSpPr txBox="1"/>
          <p:nvPr/>
        </p:nvSpPr>
        <p:spPr>
          <a:xfrm rot="0">
            <a:off x="685800" y="406400"/>
            <a:ext cx="10795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3000" b="0" i="0">
                <a:solidFill>
                  <a:srgbClr val="20334d">
                    <a:alpha val="100000"/>
                  </a:srgbClr>
                </a:solidFill>
                <a:latin typeface="sans-serif"/>
                <a:ea typeface="sans-serif"/>
              </a:rPr>
              <a:t xml:space="preserve">季度业务表现 · 环形图</a:t>
            </a:r>
            <a:endParaRPr sz="3000"/>
          </a:p>
        </p:txBody>
      </p:sp>
      <p:graphicFrame>
        <p:nvGraphicFramePr>
          <p:cNvPr id="3" name="content-8"/>
          <p:cNvGraphicFramePr/>
          <p:nvPr/>
        </p:nvGraphicFramePr>
        <p:xfrm rot="0">
          <a:off x="939800" y="1549400"/>
          <a:ext cx="103124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chart-9-3"/>
          </a:graphicData>
        </a:graphic>
      </p:graphicFrame>
      <p:sp>
        <p:nvSpPr>
          <p:cNvPr id="4" name="footer-8"/>
          <p:cNvSpPr txBox="1"/>
          <p:nvPr/>
        </p:nvSpPr>
        <p:spPr>
          <a:xfrm rot="0">
            <a:off x="685800" y="6223000"/>
            <a:ext cx="1079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1300" b="0" i="0">
                <a:solidFill>
                  <a:srgbClr val="777777">
                    <a:alpha val="100000"/>
                  </a:srgbClr>
                </a:solidFill>
                <a:latin typeface="sans-serif"/>
                <a:ea typeface="sans-serif"/>
              </a:rPr>
              <a:t xml:space="preserve">FY 2026    /    JoyDeck 原创开发验证样例</a:t>
            </a:r>
            <a:endParaRPr sz="1300"/>
          </a:p>
        </p:txBody>
      </p:sp>
    </p:spTree>
  </p:cSld>
  <p:clrMapOvr>
    <a:masterClrMapping/>
  </p:clrMapOvr>
  <p:transition xmlns:p14="http://schemas.microsoft.com/office/powerpoint/2010/main" spd="med" p14:dur="600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00" fill="hold">
                      <p:stCondLst>
                        <p:cond delay="indefinite"/>
                      </p:stCondLst>
                      <p:childTnLst>
                        <p:par>
                          <p:cTn id="3001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nodeType="clickEffect" dur="600" fill="hold" repeatCount="1000" autoRev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JoyDeck Original">
  <a:themeElements>
    <a:clrScheme name="JoyDeck">
      <a:dk1>
        <a:srgbClr val="202b3a"/>
      </a:dk1>
      <a:lt1>
        <a:srgbClr val="ffffff"/>
      </a:lt1>
      <a:dk2>
        <a:srgbClr val="15202d"/>
      </a:dk2>
      <a:lt2>
        <a:srgbClr val="eeeeee"/>
      </a:lt2>
      <a:accent1>
        <a:srgbClr val="087f8c"/>
      </a:accent1>
      <a:accent2>
        <a:srgbClr val="1265c5"/>
      </a:accent2>
      <a:accent3>
        <a:srgbClr val="c05050"/>
      </a:accent3>
      <a:accent4>
        <a:srgbClr val="808040"/>
      </a:accent4>
      <a:accent5>
        <a:srgbClr val="804080"/>
      </a:accent5>
      <a:accent6>
        <a:srgbClr val="408080"/>
      </a:accent6>
      <a:hlink>
        <a:srgbClr val="0000ff"/>
      </a:hlink>
      <a:folHlink>
        <a:srgbClr val="800080"/>
      </a:folHlink>
    </a:clrScheme>
    <a:fontScheme name="JoyDe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JoyDe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joydeck.xml><?xml version="1.0" encoding="utf-8"?>
<jd:document xmlns:jd="urn:joydeck:interop:1" version="1" digest="d1274e30ce3a16f030dae2fc6edf7a2ea9efd0b66e0fbd6ceeee3f572b9e9dae">eyJwcmVzZW50YXRpb24iOnsic2xpZGVzIjp7InBhZ2UtMCI6eyJ0cmFuc2l0aW9uIjoibm9uZSIsImR1cmF0aW9uX21zIjo2MDAsImFkdmFuY2VfbXMiOm51bGwsImVmZmVjdHMiOlt7ImlkIjoiZW50cmFuY2UtMCIsInRhcmdldCI6ImNvbnRlbnQtMCIsImtpbmQiOiJmYWRlIiwidHJpZ2dlciI6ImNsaWNrIiwiZHVyYXRpb25fbXMiOjYwMCwiZGVsYXlfbXMiOjAsInJlcGVhdHMiOjEsImF1dG9fcmV2ZXJzZSI6ZmFsc2UsInJld2luZCI6ZmFsc2UsInBhcmFncmFwaCI6bnVsbCwiZHgiOi0xODAuMCwiZHkiOjAuMCwiYW1vdW50IjozNjAuMH1dfSwicGFnZS0xIjp7InRyYW5zaXRpb24iOiJmYWRlIiwiZHVyYXRpb25fbXMiOjYwMCwiYWR2YW5jZV9tcyI6bnVsbCwiZWZmZWN0cyI6W3siaWQiOiJlbnRyYW5jZS0xIiwidGFyZ2V0IjoiY29udGVudC0xIiwia2luZCI6ImZhZGUiLCJ0cmlnZ2VyIjoiY2xpY2siLCJkdXJhdGlvbl9tcyI6NjAwLCJkZWxheV9tcyI6MCwicmVwZWF0cyI6MSwiYXV0b19yZXZlcnNlIjpmYWxzZSwicmV3aW5kIjpmYWxzZSwicGFyYWdyYXBoIjpudWxsLCJkeCI6LTE4MC4wLCJkeSI6MC4wLCJhbW91bnQiOjM2MC4wfV19LCJwYWdlLTIiOnsidHJhbnNpdGlvbiI6ImZhZGUiLCJkdXJhdGlvbl9tcyI6NjAwLCJhZHZhbmNlX21zIjpudWxsLCJlZmZlY3RzIjpbeyJpZCI6ImVudHJhbmNlLTIiLCJ0YXJnZXQiOiJjb250ZW50LTIiLCJraW5kIjoiZmFkZSIsInRyaWdnZXIiOiJjbGljayIsImR1cmF0aW9uX21zIjo2MDAsImRlbGF5X21zIjowLCJyZXBlYXRzIjoxLCJhdXRvX3JldmVyc2UiOmZhbHNlLCJyZXdpbmQiOmZhbHNlLCJwYXJhZ3JhcGgiOm51bGwsImR4IjotMTgwLjAsImR5IjowLjAsImFtb3VudCI6MzYwLjB9XX0sInBhZ2UtMyI6eyJ0cmFuc2l0aW9uIjoiZmFkZSIsImR1cmF0aW9uX21zIjo2MDAsImFkdmFuY2VfbXMiOm51bGwsImVmZmVjdHMiOlt7ImlkIjoiZW50cmFuY2UtMyIsInRhcmdldCI6ImNvbnRlbnQtMyIsImtpbmQiOiJmYWRlIiwidHJpZ2dlciI6ImNsaWNrIiwiZHVyYXRpb25fbXMiOjYwMCwiZGVsYXlfbXMiOjAsInJlcGVhdHMiOjEsImF1dG9fcmV2ZXJzZSI6ZmFsc2UsInJld2luZCI6ZmFsc2UsInBhcmFncmFwaCI6bnVsbCwiZHgiOi0xODAuMCwiZHkiOjAuMCwiYW1vdW50IjozNjAuMH1dfSwicGFnZS00Ijp7InRyYW5zaXRpb24iOiJmYWRlIiwiZHVyYXRpb25fbXMiOjYwMCwiYWR2YW5jZV9tcyI6bnVsbCwiZWZmZWN0cyI6W3siaWQiOiJlbnRyYW5jZS00IiwidGFyZ2V0IjoiY29udGVudC00Iiwia2luZCI6ImZhZGUiLCJ0cmlnZ2VyIjoiY2xpY2siLCJkdXJhdGlvbl9tcyI6NjAwLCJkZWxheV9tcyI6MCwicmVwZWF0cyI6MSwiYXV0b19yZXZlcnNlIjpmYWxzZSwicmV3aW5kIjpmYWxzZSwicGFyYWdyYXBoIjpudWxsLCJkeCI6LTE4MC4wLCJkeSI6MC4wLCJhbW91bnQiOjM2MC4wfV19LCJwYWdlLTUiOnsidHJhbnNpdGlvbiI6ImZhZGUiLCJkdXJhdGlvbl9tcyI6NjAwLCJhZHZhbmNlX21zIjpudWxsLCJlZmZlY3RzIjpbeyJpZCI6ImVudHJhbmNlLTUiLCJ0YXJnZXQiOiJjb250ZW50LTUiLCJraW5kIjoiZmFkZSIsInRyaWdnZXIiOiJjbGljayIsImR1cmF0aW9uX21zIjo2MDAsImRlbGF5X21zIjowLCJyZXBlYXRzIjoxLCJhdXRvX3JldmVyc2UiOmZhbHNlLCJyZXdpbmQiOmZhbHNlLCJwYXJhZ3JhcGgiOm51bGwsImR4IjotMTgwLjAsImR5IjowLjAsImFtb3VudCI6MzYwLjB9XX0sInBhZ2UtNiI6eyJ0cmFuc2l0aW9uIjoiZmFkZSIsImR1cmF0aW9uX21zIjo2MDAsImFkdmFuY2VfbXMiOm51bGwsImVmZmVjdHMiOlt7ImlkIjoiZW50cmFuY2UtNiIsInRhcmdldCI6ImNvbnRlbnQtNiIsImtpbmQiOiJmYWRlIiwidHJpZ2dlciI6ImNsaWNrIiwiZHVyYXRpb25fbXMiOjYwMCwiZGVsYXlfbXMiOjAsInJlcGVhdHMiOjEsImF1dG9fcmV2ZXJzZSI6ZmFsc2UsInJld2luZCI6ZmFsc2UsInBhcmFncmFwaCI6bnVsbCwiZHgiOi0xODAuMCwiZHkiOjAuMCwiYW1vdW50IjozNjAuMH1dfSwicGFnZS03Ijp7InRyYW5zaXRpb24iOiJmYWRlIiwiZHVyYXRpb25fbXMiOjYwMCwiYWR2YW5jZV9tcyI6bnVsbCwiZWZmZWN0cyI6W3siaWQiOiJlbnRyYW5jZS03IiwidGFyZ2V0IjoiY29udGVudC03Iiwia2luZCI6ImZhZGUiLCJ0cmlnZ2VyIjoiY2xpY2siLCJkdXJhdGlvbl9tcyI6NjAwLCJkZWxheV9tcyI6MCwicmVwZWF0cyI6MSwiYXV0b19yZXZlcnNlIjpmYWxzZSwicmV3aW5kIjpmYWxzZSwicGFyYWdyYXBoIjpudWxsLCJkeCI6LTE4MC4wLCJkeSI6MC4wLCJhbW91bnQiOjM2MC4wfV19LCJwYWdlLTgiOnsidHJhbnNpdGlvbiI6ImZhZGUiLCJkdXJhdGlvbl9tcyI6NjAwLCJhZHZhbmNlX21zIjpudWxsLCJlZmZlY3RzIjpbeyJpZCI6ImVudHJhbmNlLTgiLCJ0YXJnZXQiOiJjb250ZW50LTgiLCJraW5kIjoiZmFkZSIsInRyaWdnZXIiOiJjbGljayIsImR1cmF0aW9uX21zIjo2MDAsImRlbGF5X21zIjowLCJyZXBlYXRzIjoxLCJhdXRvX3JldmVyc2UiOmZhbHNlLCJyZXdpbmQiOmZhbHNlLCJwYXJhZ3JhcGgiOm51bGwsImR4IjotMTgwLjAsImR5IjowLjAsImFtb3VudCI6MzYwLjB9XX19LCJvcmRlciI6W10sImxvb3Bfc2hvdyI6ZmFsc2UsImxpbmtzIjp7fX0sImRlc2lnbiI6eyJ0aGVtZXMiOnt9LCJtYXN0ZXJzIjp7fSwibGF5b3V0cyI6e319LCJvcmdhbml6YXRpb24iOnsiYXV0aG9yIjoiIiwic3ViamVjdCI6IiIsInNlY3Rpb25zIjp7fX0sImZpZWxkRGF0ZSI6IiIsInRpdGxlIjoi5a2j5bqm5Lia5Yqh5Zue6aG+Iiwid2lkdGgiOjk2MC4wLCJoZWlnaHQiOjU0MC4wLCJzbGlkZXMiOlt7ImxheW91dCI6bnVsbCwiaW5oZXJpdF9iYWNrZ3JvdW5kIjpmYWxzZSwibm90ZXMiOiLnp4Hlr4bmvJTorrLogIXlpIfms6jvvJrnrKwx6aG177yM5LuF5Zyo5ryU56S66ICF56qX5Y+j5Y+v6KeB44CCIiwic2VjdGlvbiI6bnVsbCwiaGlkZGVuIjpmYWxzZSwiaWQiOiJwYWdlLTAiLCJ0aXRsZSI6IuWto+W6puS4muWKoeihqOeOsCDCtyDmn7HlvaLlm74iLCJiYWNrZ3JvdW5kIjoiI2ZmZmZmZiIsIm9iamVjdHMiOlt7ImlkIjoidGl0bGUtMCIsInJvdGF0aW9uIjowLjAsIm9wYWNpdHkiOjEuMCwic3Ryb2tlIjoiIzIwMmIzYSIsInN0cm9rZVdpZHRoIjowLjAsImtpbmQiOiJ0ZXh0IiwieCI6NTQuMCwieSI6MzIuMCwid2lkdGgiOjg1MC4wLCJoZWlnaHQiOjUwLjAsImZpbGwiOiIjMjAzMzRkIiwidGV4dCI6IuWto+W6puS4muWKoeihqOeOsCDCtyDmn7HlvaLlm74iLCJmb250U2l6ZSI6MzAuMH0seyJjaGFydCI6eyJraW5kIjoiY29sdW1uIiwidGl0bGUiOiIiLCJjYXRlZ29yaWVzIjpbIuesrOS4gOWto+W6piIsIuesrOS6jOWto+W6piIsIuesrOS4ieWto+W6piIsIuesrOWbm+Wto+W6piJdLCJzZXJpZXMiOlt7Im5hbWUiOiLmlLblhaUiLCJ2YWx1ZXMiOls0Mi4wLDU4LjAsNzIuMCw5MS4wXSwieCI6W119XSwibGVnZW5kIjp0cnVlLCJncmlkIjp0cnVlLCJsYWJlbHMiOnRydWUsInhfdGl0bGUiOiIiLCJ5X3RpdGxlIjoiIiwidW5pdCI6IiDkuIflhYMiLCJtaW5pbXVtIjpudWxsLCJtYXhpbXVtIjpudWxsLCJjb2xvcnMiOlsiIzQ0NzJjNCIsIiNlZDdkMzEiLCIjYTVhNWE1IiwiI2ZmYzAwMCIsIiM1YjliZDUiLCIjNzBhZDQ3Il19LCJpZCI6ImNvbnRlbnQtMCIsInJvdGF0aW9uIjowLjAsIm9wYWNpdHkiOjEuMCwic3Ryb2tlIjoiIzIwMmIzYSIsInN0cm9rZVdpZHRoIjowLjAsImtpbmQiOiJjaGFydCIsIngiOjc0LjAsInkiOjEyMi4wLCJ3aWR0aCI6ODEyLjAsImhlaWdodCI6MzMwLjAsImZpbGwiOiIjMjdiNmE3IiwidGV4dCI6IiIsImZvbnRTaXplIjoyNC4wfSx7ImlkIjoiZm9vdGVyLTAiLCJyb3RhdGlvbiI6MC4wLCJvcGFjaXR5IjoxLjAsInN0cm9rZSI6IiMyMDJiM2EiLCJzdHJva2VXaWR0aCI6MC4wLCJraW5kIjoidGV4dCIsIngiOjU0LjAsInkiOjQ5MC4wLCJ3aWR0aCI6ODUwLjAsImhlaWdodCI6MjUuMCwiZmlsbCI6IiM3Nzc3NzciLCJ0ZXh0IjoiRlkgMjAyNiAgICAvICAgIEpveURlY2sg5Y6f5Yib5byA5Y+R6aqM6K+B5qC35L6LIiwiZm9udFNpemUiOjEzLjB9XX0seyJsYXlvdXQiOm51bGwsImluaGVyaXRfYmFja2dyb3VuZCI6ZmFsc2UsIm5vdGVzIjoi56eB5a+G5ryU6K6y6ICF5aSH5rOo77ya56ysMumhte+8jOS7heWcqOa8lOekuuiAheeql+WPo+WPr+ingeOAgiIsInNlY3Rpb24iOm51bGwsImhpZGRlbiI6ZmFsc2UsImlkIjoicGFnZS0xIiwidGl0bGUiOiLlraPluqbkuJrliqHooajnjrAgwrcg5p2h5b2i5Zu+IiwiYmFja2dyb3VuZCI6IiNmZmZmZmYiLCJvYmplY3RzIjpbeyJpZCI6InRpdGxlLTEiLCJyb3RhdGlvbiI6MC4wLCJvcGFjaXR5IjoxLjAsInN0cm9rZSI6IiMyMDJiM2EiLCJzdHJva2VXaWR0aCI6MC4wLCJraW5kIjoidGV4dCIsIngiOjU0LjAsInkiOjMyLjAsIndpZHRoIjo4NTAuMCwiaGVpZ2h0Ijo1MC4wLCJmaWxsIjoiIzIwMzM0ZCIsInRleHQiOiLlraPluqbkuJrliqHooajnjrAgwrcg5p2h5b2i5Zu+IiwiZm9udFNpemUiOjMwLjB9LHsiY2hhcnQiOnsia2luZCI6ImJhciIsInRpdGxlIjoiIiwiY2F0ZWdvcmllcyI6WyLnrKzkuIDlraPluqYiLCLnrKzkuozlraPluqYiLCLnrKzkuInlraPluqYiLCLnrKzlm5vlraPluqYiXSwic2VyaWVzIjpbeyJuYW1lIjoi5pS25YWlIiwidmFsdWVzIjpbNDIuMCw1OC4wLDcyLjAsOTEuMF0sIngiOltdfV0sImxlZ2VuZCI6dHJ1ZSwiZ3JpZCI6dHJ1ZSwibGFiZWxzIjp0cnVlLCJ4X3RpdGxlIjoiIiwieV90aXRsZSI6IiIsInVuaXQiOiIg5LiH5YWDIiwibWluaW11bSI6bnVsbCwibWF4aW11bSI6bnVsbCwiY29sb3JzIjpbIiM0NDcyYzQiLCIjZWQ3ZDMxIiwiI2E1YTVhNSIsIiNmZmMwMDAiLCIjNWI5YmQ1IiwiIzcwYWQ0NyJdfSwiaWQiOiJjb250ZW50LTEiLCJyb3RhdGlvbiI6MC4wLCJvcGFjaXR5IjoxLjAsInN0cm9rZSI6IiMyMDJiM2EiLCJzdHJva2VXaWR0aCI6MC4wLCJraW5kIjoiY2hhcnQiLCJ4Ijo3NC4wLCJ5IjoxMjIuMCwid2lkdGgiOjgxMi4wLCJoZWlnaHQiOjMzMC4wLCJmaWxsIjoiIzI3YjZhNyIsInRleHQiOiIiLCJmb250U2l6ZSI6MjQuMH0seyJpZCI6ImZvb3Rlci0xIiwicm90YXRpb24iOjAuMCwib3BhY2l0eSI6MS4wLCJzdHJva2UiOiIjMjAyYjNhIiwic3Ryb2tlV2lkdGgiOjAuMCwia2luZCI6InRleHQiLCJ4Ijo1NC4wLCJ5Ijo0OTAuMCwid2lkdGgiOjg1MC4wLCJoZWlnaHQiOjI1LjAsImZpbGwiOiIjNzc3Nzc3IiwidGV4dCI6IkZZIDIwMjYgICAgLyAgICBKb3lEZWNrIOWOn+WIm+W8gOWPkemqjOivgeagt+S+iyIsImZvbnRTaXplIjoxMy4wfV19LHsibGF5b3V0IjpudWxsLCJpbmhlcml0X2JhY2tncm91bmQiOmZhbHNlLCJub3RlcyI6IuengeWvhua8lOiusuiAheWkh+azqO+8muesrDPpobXvvIzku4XlnKjmvJTnpLrogIXnqpflj6Plj6/op4HjgIIiLCJzZWN0aW9uIjpudWxsLCJoaWRkZW4iOmZhbHNlLCJpZCI6InBhZ2UtMiIsInRpdGxlIjoi5a2j5bqm5Lia5Yqh6KGo546wIMK3IOaKmOe6v+WbviIsImJhY2tncm91bmQiOiIjZmZmZmZmIiwib2JqZWN0cyI6W3siaWQiOiJ0aXRsZS0yIiwicm90YXRpb24iOjAuMCwib3BhY2l0eSI6MS4wLCJzdHJva2UiOiIjMjAyYjNhIiwic3Ryb2tlV2lkdGgiOjAuMCwia2luZCI6InRleHQiLCJ4Ijo1NC4wLCJ5IjozMi4wLCJ3aWR0aCI6ODUwLjAsImhlaWdodCI6NTAuMCwiZmlsbCI6IiMyMDMzNGQiLCJ0ZXh0Ijoi5a2j5bqm5Lia5Yqh6KGo546wIMK3IOaKmOe6v+WbviIsImZvbnRTaXplIjozMC4wfSx7ImNoYXJ0Ijp7ImtpbmQiOiJsaW5lIiwidGl0bGUiOiIiLCJjYXRlZ29yaWVzIjpbIuesrOS4gOWto+W6piIsIuesrOS6jOWto+W6piIsIuesrOS4ieWto+W6piIsIuesrOWbm+Wto+W6piJdLCJzZXJpZXMiOlt7Im5hbWUiOiLmlLblhaUiLCJ2YWx1ZXMiOls0Mi4wLDU4LjAsNzIuMCw5MS4wXSwieCI6W119XSwibGVnZW5kIjp0cnVlLCJncmlkIjp0cnVlLCJsYWJlbHMiOnRydWUsInhfdGl0bGUiOiIiLCJ5X3RpdGxlIjoiIiwidW5pdCI6IiDkuIflhYMiLCJtaW5pbXVtIjpudWxsLCJtYXhpbXVtIjpudWxsLCJjb2xvcnMiOlsiIzQ0NzJjNCIsIiNlZDdkMzEiLCIjYTVhNWE1IiwiI2ZmYzAwMCIsIiM1YjliZDUiLCIjNzBhZDQ3Il19LCJpZCI6ImNvbnRlbnQtMiIsInJvdGF0aW9uIjowLjAsIm9wYWNpdHkiOjEuMCwic3Ryb2tlIjoiIzIwMmIzYSIsInN0cm9rZVdpZHRoIjowLjAsImtpbmQiOiJjaGFydCIsIngiOjc0LjAsInkiOjEyMi4wLCJ3aWR0aCI6ODEyLjAsImhlaWdodCI6MzMwLjAsImZpbGwiOiIjMjdiNmE3IiwidGV4dCI6IiIsImZvbnRTaXplIjoyNC4wfSx7ImlkIjoiZm9vdGVyLTIiLCJyb3RhdGlvbiI6MC4wLCJvcGFjaXR5IjoxLjAsInN0cm9rZSI6IiMyMDJiM2EiLCJzdHJva2VXaWR0aCI6MC4wLCJraW5kIjoidGV4dCIsIngiOjU0LjAsInkiOjQ5MC4wLCJ3aWR0aCI6ODUwLjAsImhlaWdodCI6MjUuMCwiZmlsbCI6IiM3Nzc3NzciLCJ0ZXh0IjoiRlkgMjAyNiAgICAvICAgIEpveURlY2sg5Y6f5Yib5byA5Y+R6aqM6K+B5qC35L6LIiwiZm9udFNpemUiOjEzLjB9XX0seyJsYXlvdXQiOm51bGwsImluaGVyaXRfYmFja2dyb3VuZCI6ZmFsc2UsIm5vdGVzIjoi56eB5a+G5ryU6K6y6ICF5aSH5rOo77ya56ysNOmhte+8jOS7heWcqOa8lOekuuiAheeql+WPo+WPr+ingeOAgiIsInNlY3Rpb24iOm51bGwsImhpZGRlbiI6ZmFsc2UsImlkIjoicGFnZS0zIiwidGl0bGUiOiLlraPluqbkuJrliqHooajnjrAgwrcg6aW85Zu+IiwiYmFja2dyb3VuZCI6IiNmZmZmZmYiLCJvYmplY3RzIjpbeyJpZCI6InRpdGxlLTMiLCJyb3RhdGlvbiI6MC4wLCJvcGFjaXR5IjoxLjAsInN0cm9rZSI6IiMyMDJiM2EiLCJzdHJva2VXaWR0aCI6MC4wLCJraW5kIjoidGV4dCIsIngiOjU0LjAsInkiOjMyLjAsIndpZHRoIjo4NTAuMCwiaGVpZ2h0Ijo1MC4wLCJmaWxsIjoiIzIwMzM0ZCIsInRleHQiOiLlraPluqbkuJrliqHooajnjrAgwrcg6aW85Zu+IiwiZm9udFNpemUiOjMwLjB9LHsiY2hhcnQiOnsia2luZCI6InBpZSIsInRpdGxlIjoiIiwiY2F0ZWdvcmllcyI6WyLnrKzkuIDlraPluqYiLCLnrKzkuozlraPluqYiLCLnrKzkuInlraPluqYiLCLnrKzlm5vlraPluqYiXSwic2VyaWVzIjpbeyJuYW1lIjoi5pS25YWlIiwidmFsdWVzIjpbNDIuMCw1OC4wLDcyLjAsOTEuMF0sIngiOltdfV0sImxlZ2VuZCI6dHJ1ZSwiZ3JpZCI6dHJ1ZSwibGFiZWxzIjp0cnVlLCJ4X3RpdGxlIjoiIiwieV90aXRsZSI6IiIsInVuaXQiOiIg5LiH5YWDIiwibWluaW11bSI6bnVsbCwibWF4aW11bSI6bnVsbCwiY29sb3JzIjpbIiM0NDcyYzQiLCIjZWQ3ZDMxIiwiI2E1YTVhNSIsIiNmZmMwMDAiLCIjNWI5YmQ1IiwiIzcwYWQ0NyJdfSwiaWQiOiJjb250ZW50LTMiLCJyb3RhdGlvbiI6MC4wLCJvcGFjaXR5IjoxLjAsInN0cm9rZSI6IiMyMDJiM2EiLCJzdHJva2VXaWR0aCI6MC4wLCJraW5kIjoiY2hhcnQiLCJ4Ijo3NC4wLCJ5IjoxMjIuMCwid2lkdGgiOjgxMi4wLCJoZWlnaHQiOjMzMC4wLCJmaWxsIjoiIzI3YjZhNyIsInRleHQiOiIiLCJmb250U2l6ZSI6MjQuMH0seyJpZCI6ImZvb3Rlci0zIiwicm90YXRpb24iOjAuMCwib3BhY2l0eSI6MS4wLCJzdHJva2UiOiIjMjAyYjNhIiwic3Ryb2tlV2lkdGgiOjAuMCwia2luZCI6InRleHQiLCJ4Ijo1NC4wLCJ5Ijo0OTAuMCwid2lkdGgiOjg1MC4wLCJoZWlnaHQiOjI1LjAsImZpbGwiOiIjNzc3Nzc3IiwidGV4dCI6IkZZIDIwMjYgICAgLyAgICBKb3lEZWNrIOWOn+WIm+W8gOWPkemqjOivgeagt+S+iyIsImZvbnRTaXplIjoxMy4wfV19LHsibGF5b3V0IjpudWxsLCJpbmhlcml0X2JhY2tncm91bmQiOmZhbHNlLCJub3RlcyI6IuengeWvhua8lOiusuiAheWkh+azqO+8muesrDXpobXvvIzku4XlnKjmvJTnpLrogIXnqpflj6Plj6/op4HjgIIiLCJzZWN0aW9uIjpudWxsLCJoaWRkZW4iOmZhbHNlLCJpZCI6InBhZ2UtNCIsInRpdGxlIjoi5a2j5bqm5Lia5Yqh6KGo546wIMK3IOaVo+eCueWbviIsImJhY2tncm91bmQiOiIjZmZmZmZmIiwib2JqZWN0cyI6W3siaWQiOiJ0aXRsZS00Iiwicm90YXRpb24iOjAuMCwib3BhY2l0eSI6MS4wLCJzdHJva2UiOiIjMjAyYjNhIiwic3Ryb2tlV2lkdGgiOjAuMCwia2luZCI6InRleHQiLCJ4Ijo1NC4wLCJ5IjozMi4wLCJ3aWR0aCI6ODUwLjAsImhlaWdodCI6NTAuMCwiZmlsbCI6IiMyMDMzNGQiLCJ0ZXh0Ijoi5a2j5bqm5Lia5Yqh6KGo546wIMK3IOaVo+eCueWbviIsImZvbnRTaXplIjozMC4wfSx7ImNoYXJ0Ijp7ImtpbmQiOiJzY2F0dGVyIiwidGl0bGUiOiIiLCJjYXRlZ29yaWVzIjpbIuesrOS4gOWto+W6piIsIuesrOS6jOWto+W6piIsIuesrOS4ieWto+W6piIsIuesrOWbm+Wto+W6piJdLCJzZXJpZXMiOlt7Im5hbWUiOiLmlLblhaUiLCJ2YWx1ZXMiOls0Mi4wLDU4LjAsNzIuMCw5MS4wXSwieCI6WzEuMCwzLjAsNy4wLDEyLjBdfV0sImxlZ2VuZCI6dHJ1ZSwiZ3JpZCI6dHJ1ZSwibGFiZWxzIjp0cnVlLCJ4X3RpdGxlIjoi5oqV5YWlIiwieV90aXRsZSI6IiIsInVuaXQiOiIg5LiH5YWDIiwibWluaW11bSI6bnVsbCwibWF4aW11bSI6bnVsbCwiY29sb3JzIjpbIiM0NDcyYzQiLCIjZWQ3ZDMxIiwiI2E1YTVhNSIsIiNmZmMwMDAiLCIjNWI5YmQ1IiwiIzcwYWQ0NyJdfSwiaWQiOiJjb250ZW50LTQiLCJyb3RhdGlvbiI6MC4wLCJvcGFjaXR5IjoxLjAsInN0cm9rZSI6IiMyMDJiM2EiLCJzdHJva2VXaWR0aCI6MC4wLCJraW5kIjoiY2hhcnQiLCJ4Ijo3NC4wLCJ5IjoxMjIuMCwid2lkdGgiOjgxMi4wLCJoZWlnaHQiOjMzMC4wLCJmaWxsIjoiIzI3YjZhNyIsInRleHQiOiIiLCJmb250U2l6ZSI6MjQuMH0seyJpZCI6ImZvb3Rlci00Iiwicm90YXRpb24iOjAuMCwib3BhY2l0eSI6MS4wLCJzdHJva2UiOiIjMjAyYjNhIiwic3Ryb2tlV2lkdGgiOjAuMCwia2luZCI6InRleHQiLCJ4Ijo1NC4wLCJ5Ijo0OTAuMCwid2lkdGgiOjg1MC4wLCJoZWlnaHQiOjI1LjAsImZpbGwiOiIjNzc3Nzc3IiwidGV4dCI6IkZZIDIwMjYgICAgLyAgICBKb3lEZWNrIOWOn+WIm+W8gOWPkemqjOivgeagt+S+iyIsImZvbnRTaXplIjoxMy4wfV19LHsibGF5b3V0IjpudWxsLCJpbmhlcml0X2JhY2tncm91bmQiOmZhbHNlLCJub3RlcyI6IuengeWvhua8lOiusuiAheWkh+azqO+8muesrDbpobXvvIzku4XlnKjmvJTnpLrogIXnqpflj6Plj6/op4HjgIIiLCJzZWN0aW9uIjpudWxsLCJoaWRkZW4iOmZhbHNlLCJpZCI6InBhZ2UtNSIsInRpdGxlIjoi5LuO6K6h5YiS5Yiw5oiQ5p6cIiwiYmFja2dyb3VuZCI6IiNmZmZmZmYiLCJvYmplY3RzIjpbeyJpZCI6InRpdGxlLTUiLCJyb3RhdGlvbiI6MC4wLCJvcGFjaXR5IjoxLjAsInN0cm9rZSI6IiMyMDJiM2EiLCJzdHJva2VXaWR0aCI6MC4wLCJraW5kIjoidGV4dCIsIngiOjU0LjAsInkiOjMyLjAsIndpZHRoIjo4NTAuMCwiaGVpZ2h0Ijo1MC4wLCJmaWxsIjoiIzIwMzM0ZCIsInRleHQiOiLku47orqHliJLliLDmiJDmnpwiLCJmb250U2l6ZSI6MzAuMH0seyJkaWFncmFtIjp7ImxheW91dCI6InByb2Nlc3MiLCJub2RlcyI6W3siaWQiOiJub2RlLTAiLCJ0ZXh0Ijoi5Yi25a6a6K6h5YiSIiwicGFyZW50IjpudWxsfSx7ImlkIjoibm9kZS0xIiwidGV4dCI6Iue7hOe7h+WunuaWvSIsInBhcmVudCI6bnVsbH0seyJpZCI6Im5vZGUtMiIsInRleHQiOiLor4TkvLDkvJjljJYiLCJwYXJlbnQiOm51bGx9XSwiY29sb3IiOiIjNDQ3MmM0In0sImlkIjoiY29udGVudC01Iiwicm90YXRpb24iOjAuMCwib3BhY2l0eSI6MS4wLCJzdHJva2UiOiIjMjAyYjNhIiwic3Ryb2tlV2lkdGgiOjAuMCwia2luZCI6ImRpYWdyYW0iLCJ4Ijo3NC4wLCJ5IjoxMjIuMCwid2lkdGgiOjgxMi4wLCJoZWlnaHQiOjMzMC4wLCJmaWxsIjoiIzI3YjZhNyIsInRleHQiOiIiLCJmb250U2l6ZSI6MjQuMH0seyJpZCI6ImZvb3Rlci01Iiwicm90YXRpb24iOjAuMCwib3BhY2l0eSI6MS4wLCJzdHJva2UiOiIjMjAyYjNhIiwic3Ryb2tlV2lkdGgiOjAuMCwia2luZCI6InRleHQiLCJ4Ijo1NC4wLCJ5Ijo0OTAuMCwid2lkdGgiOjg1MC4wLCJoZWlnaHQiOjI1LjAsImZpbGwiOiIjNzc3Nzc3IiwidGV4dCI6IkZZIDIwMjYgICAgLyAgICBKb3lEZWNrIOWOn+WIm+W8gOWPkemqjOivgeagt+S+iyIsImZvbnRTaXplIjoxMy4wfV19LHsibGF5b3V0IjpudWxsLCJpbmhlcml0X2JhY2tncm91bmQiOmZhbHNlLCJub3RlcyI6IuengeWvhua8lOiusuiAheWkh+azqO+8muesrDfpobXvvIzku4XlnKjmvJTnpLrogIXnqpflj6Plj6/op4HjgIIiLCJzZWN0aW9uIjpudWxsLCJoaWRkZW4iOmZhbHNlLCJpZCI6InBhZ2UtNiIsInRpdGxlIjoi5LuO6K6h5YiS5Yiw5oiQ5p6cIiwiYmFja2dyb3VuZCI6IiNmZmZmZmYiLCJvYmplY3RzIjpbeyJpZCI6InRpdGxlLTYiLCJyb3RhdGlvbiI6MC4wLCJvcGFjaXR5IjoxLjAsInN0cm9rZSI6IiMyMDJiM2EiLCJzdHJva2VXaWR0aCI6MC4wLCJraW5kIjoidGV4dCIsIngiOjU0LjAsInkiOjMyLjAsIndpZHRoIjo4NTAuMCwiaGVpZ2h0Ijo1MC4wLCJmaWxsIjoiIzIwMzM0ZCIsInRleHQiOiLku47orqHliJLliLDmiJDmnpwiLCJmb250U2l6ZSI6MzAuMH0seyJkaWFncmFtIjp7ImxheW91dCI6ImhpZXJhcmNoeSIsIm5vZGVzIjpbeyJpZCI6Im5vZGUtMCIsInRleHQiOiLkuJrliqHorqHliJIiLCJwYXJlbnQiOm51bGx9LHsiaWQiOiJub2RlLTEiLCJ0ZXh0Ijoi5a6i5oi35aKe6ZW/IiwicGFyZW50Ijoibm9kZS0wIn0seyJpZCI6Im5vZGUtMiIsInRleHQiOiLlrqLmiLfkvZPpqowiLCJwYXJlbnQiOiJub2RlLTEifSx7ImlkIjoibm9kZS0zIiwidGV4dCI6IuS6p+WTgei/reS7oyIsInBhcmVudCI6Im5vZGUtMCJ9XSwiY29sb3IiOiIjNDQ3MmM0In0sImlkIjoiY29udGVudC02Iiwicm90YXRpb24iOjAuMCwib3BhY2l0eSI6MS4wLCJzdHJva2UiOiIjMjAyYjNhIiwic3Ryb2tlV2lkdGgiOjAuMCwia2luZCI6ImRpYWdyYW0iLCJ4Ijo3NC4wLCJ5IjoxMjIuMCwid2lkdGgiOjgxMi4wLCJoZWlnaHQiOjMzMC4wLCJmaWxsIjoiIzI3YjZhNyIsInRleHQiOiIiLCJmb250U2l6ZSI6MjQuMH0seyJpZCI6ImZvb3Rlci02Iiwicm90YXRpb24iOjAuMCwib3BhY2l0eSI6MS4wLCJzdHJva2UiOiIjMjAyYjNhIiwic3Ryb2tlV2lkdGgiOjAuMCwia2luZCI6InRleHQiLCJ4Ijo1NC4wLCJ5Ijo0OTAuMCwid2lkdGgiOjg1MC4wLCJoZWlnaHQiOjI1LjAsImZpbGwiOiIjNzc3Nzc3IiwidGV4dCI6IkZZIDIwMjYgICAgLyAgICBKb3lEZWNrIOWOn+WIm+W8gOWPkemqjOivgeagt+S+iyIsImZvbnRTaXplIjoxMy4wfV19LHsibGF5b3V0IjpudWxsLCJpbmhlcml0X2JhY2tncm91bmQiOmZhbHNlLCJub3RlcyI6IuengeWvhua8lOiusuiAheWkh+azqO+8muesrDjpobXvvIzku4XlnKjmvJTnpLrogIXnqpflj6Plj6/op4HjgIIiLCJzZWN0aW9uIjpudWxsLCJoaWRkZW4iOmZhbHNlLCJpZCI6InBhZ2UtNyIsInRpdGxlIjoi5a2j5bqm5Lia5Yqh6KGo546wIMK3IOmdouenr+WbviIsImJhY2tncm91bmQiOiIjZmZmZmZmIiwib2JqZWN0cyI6W3siaWQiOiJ0aXRsZS03Iiwicm90YXRpb24iOjAuMCwib3BhY2l0eSI6MS4wLCJzdHJva2UiOiIjMjAyYjNhIiwic3Ryb2tlV2lkdGgiOjAuMCwia2luZCI6InRleHQiLCJ4Ijo1NC4wLCJ5IjozMi4wLCJ3aWR0aCI6ODUwLjAsImhlaWdodCI6NTAuMCwiZmlsbCI6IiMyMDMzNGQiLCJ0ZXh0Ijoi5a2j5bqm5Lia5Yqh6KGo546wIMK3IOmdouenr+WbviIsImZvbnRTaXplIjozMC4wfSx7ImNoYXJ0Ijp7ImtpbmQiOiJhcmVhIiwidGl0bGUiOiIiLCJjYXRlZ29yaWVzIjpbIuesrOS4gOWto+W6piIsIuesrOS6jOWto+W6piIsIuesrOS4ieWto+W6piIsIuesrOWbm+Wto+W6piJdLCJzZXJpZXMiOlt7Im5hbWUiOiLmlLblhaUiLCJ2YWx1ZXMiOls0Mi4wLDU4LjAsNzIuMCw5MS4wXSwieCI6W119XSwibGVnZW5kIjp0cnVlLCJncmlkIjp0cnVlLCJsYWJlbHMiOnRydWUsInhfdGl0bGUiOiIiLCJ5X3RpdGxlIjoiIiwidW5pdCI6IiDkuIflhYMiLCJtaW5pbXVtIjpudWxsLCJtYXhpbXVtIjpudWxsLCJjb2xvcnMiOlsiIzQ0NzJjNCIsIiNlZDdkMzEiLCIjYTVhNWE1IiwiI2ZmYzAwMCIsIiM1YjliZDUiLCIjNzBhZDQ3Il19LCJpZCI6ImNvbnRlbnQtNyIsInJvdGF0aW9uIjowLjAsIm9wYWNpdHkiOjEuMCwic3Ryb2tlIjoiIzIwMmIzYSIsInN0cm9rZVdpZHRoIjowLjAsImtpbmQiOiJjaGFydCIsIngiOjc0LjAsInkiOjEyMi4wLCJ3aWR0aCI6ODEyLjAsImhlaWdodCI6MzMwLjAsImZpbGwiOiIjMjdiNmE3IiwidGV4dCI6IiIsImZvbnRTaXplIjoyNC4wfSx7ImlkIjoiZm9vdGVyLTciLCJyb3RhdGlvbiI6MC4wLCJvcGFjaXR5IjoxLjAsInN0cm9rZSI6IiMyMDJiM2EiLCJzdHJva2VXaWR0aCI6MC4wLCJraW5kIjoidGV4dCIsIngiOjU0LjAsInkiOjQ5MC4wLCJ3aWR0aCI6ODUwLjAsImhlaWdodCI6MjUuMCwiZmlsbCI6IiM3Nzc3NzciLCJ0ZXh0IjoiRlkgMjAyNiAgICAvICAgIEpveURlY2sg5Y6f5Yib5byA5Y+R6aqM6K+B5qC35L6LIiwiZm9udFNpemUiOjEzLjB9XX0seyJsYXlvdXQiOm51bGwsImluaGVyaXRfYmFja2dyb3VuZCI6ZmFsc2UsIm5vdGVzIjoi56eB5a+G5ryU6K6y6ICF5aSH5rOo77ya56ysOemhte+8jOS7heWcqOa8lOekuuiAheeql+WPo+WPr+ingeOAgiIsInNlY3Rpb24iOm51bGwsImhpZGRlbiI6ZmFsc2UsImlkIjoicGFnZS04IiwidGl0bGUiOiLlraPluqbkuJrliqHooajnjrAgwrcg546v5b2i5Zu+IiwiYmFja2dyb3VuZCI6IiNmZmZmZmYiLCJvYmplY3RzIjpbeyJpZCI6InRpdGxlLTgiLCJyb3RhdGlvbiI6MC4wLCJvcGFjaXR5IjoxLjAsInN0cm9rZSI6IiMyMDJiM2EiLCJzdHJva2VXaWR0aCI6MC4wLCJraW5kIjoidGV4dCIsIngiOjU0LjAsInkiOjMyLjAsIndpZHRoIjo4NTAuMCwiaGVpZ2h0Ijo1MC4wLCJmaWxsIjoiIzIwMzM0ZCIsInRleHQiOiLlraPluqbkuJrliqHooajnjrAgwrcg546v5b2i5Zu+IiwiZm9udFNpemUiOjMwLjB9LHsiY2hhcnQiOnsia2luZCI6ImRvdWdobnV0IiwidGl0bGUiOiIiLCJjYXRlZ29yaWVzIjpbIuesrOS4gOWto+W6piIsIuesrOS6jOWto+W6piIsIuesrOS4ieWto+W6piIsIuesrOWbm+Wto+W6piJdLCJzZXJpZXMiOlt7Im5hbWUiOiLmlLblhaUiLCJ2YWx1ZXMiOls0Mi4wLDU4LjAsNzIuMCw5MS4wXSwieCI6W119XSwibGVnZW5kIjp0cnVlLCJncmlkIjp0cnVlLCJsYWJlbHMiOnRydWUsInhfdGl0bGUiOiIiLCJ5X3RpdGxlIjoiIiwidW5pdCI6IiDkuIflhYMiLCJtaW5pbXVtIjpudWxsLCJtYXhpbXVtIjpudWxsLCJjb2xvcnMiOlsiIzQ0NzJjNCIsIiNlZDdkMzEiLCIjYTVhNWE1IiwiI2ZmYzAwMCIsIiM1YjliZDUiLCIjNzBhZDQ3Il19LCJpZCI6ImNvbnRlbnQtOCIsInJvdGF0aW9uIjowLjAsIm9wYWNpdHkiOjEuMCwic3Ryb2tlIjoiIzIwMmIzYSIsInN0cm9rZVdpZHRoIjowLjAsImtpbmQiOiJjaGFydCIsIngiOjc0LjAsInkiOjEyMi4wLCJ3aWR0aCI6ODEyLjAsImhlaWdodCI6MzMwLjAsImZpbGwiOiIjMjdiNmE3IiwidGV4dCI6IiIsImZvbnRTaXplIjoyNC4wfSx7ImlkIjoiZm9vdGVyLTgiLCJyb3RhdGlvbiI6MC4wLCJvcGFjaXR5IjoxLjAsInN0cm9rZSI6IiMyMDJiM2EiLCJzdHJva2VXaWR0aCI6MC4wLCJraW5kIjoidGV4dCIsIngiOjU0LjAsInkiOjQ5MC4wLCJ3aWR0aCI6ODUwLjAsImhlaWdodCI6MjUuMCwiZmlsbCI6IiM3Nzc3NzciLCJ0ZXh0IjoiRlkgMjAyNiAgICAvICAgIEpveURlY2sg5Y6f5Yib5byA5Y+R6aqM6K+B5qC35L6LIiwiZm9udFNpemUiOjEzLjB9XX1dfQ==</jd:document>
</file>