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06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spPr>
            <a:solidFill>
              <a:srgbClr val="4472C4"/>
            </a:solidFill>
            <a:ln w="25400">
              <a:solidFill>
                <a:srgbClr val="4472C4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72</c:v>
                </c:pt>
                <c:pt idx="3">
                  <c:v>133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5400">
                    <a:solidFill>
                      <a:srgbClr val="4472C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2CE-7842-870E-BD34142782D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1"/>
        </c:dLbls>
        <c:gapWidth val="150"/>
        <c:axId val="100"/>
        <c:axId val="200"/>
      </c:barChart>
      <c:catAx>
        <c:axId val="1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200"/>
        <c:crosses val="autoZero"/>
        <c:auto val="1"/>
        <c:lblAlgn val="ctr"/>
        <c:lblOffset val="100"/>
        <c:noMultiLvlLbl val="1"/>
      </c:catAx>
      <c:valAx>
        <c:axId val="200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100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spPr>
            <a:solidFill>
              <a:srgbClr val="4472C4"/>
            </a:solidFill>
            <a:ln w="25400">
              <a:solidFill>
                <a:srgbClr val="4472C4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72</c:v>
                </c:pt>
                <c:pt idx="3">
                  <c:v>91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5400">
                    <a:solidFill>
                      <a:srgbClr val="4472C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225-C847-995B-6F5D42BCF7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1"/>
        </c:dLbls>
        <c:gapWidth val="150"/>
        <c:axId val="100"/>
        <c:axId val="200"/>
      </c:barChart>
      <c:catAx>
        <c:axId val="1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crossAx val="200"/>
        <c:crosses val="autoZero"/>
        <c:auto val="1"/>
        <c:lblAlgn val="ctr"/>
        <c:lblOffset val="100"/>
        <c:noMultiLvlLbl val="1"/>
      </c:catAx>
      <c:valAx>
        <c:axId val="200"/>
        <c:scaling>
          <c:orientation val="minMax"/>
        </c:scaling>
        <c:delete val="0"/>
        <c:axPos val="b"/>
        <c:majorGridlines/>
        <c:numFmt formatCode="General" sourceLinked="1"/>
        <c:majorTickMark val="none"/>
        <c:minorTickMark val="none"/>
        <c:tickLblPos val="nextTo"/>
        <c:crossAx val="100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spPr>
            <a:ln w="25400">
              <a:solidFill>
                <a:srgbClr val="4472C4"/>
              </a:solidFill>
            </a:ln>
          </c:spPr>
          <c:marker>
            <c:symbol val="circle"/>
            <c:size val="5"/>
          </c:marker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72</c:v>
                </c:pt>
                <c:pt idx="3">
                  <c:v>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623-564F-B765-598F43CDE5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1"/>
        </c:dLbls>
        <c:marker val="1"/>
        <c:smooth val="0"/>
        <c:axId val="100"/>
        <c:axId val="200"/>
      </c:lineChart>
      <c:catAx>
        <c:axId val="1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200"/>
        <c:crosses val="autoZero"/>
        <c:auto val="1"/>
        <c:lblAlgn val="ctr"/>
        <c:lblOffset val="100"/>
        <c:noMultiLvlLbl val="1"/>
      </c:catAx>
      <c:valAx>
        <c:axId val="200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100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spPr>
            <a:solidFill>
              <a:srgbClr val="4472C4"/>
            </a:solidFill>
            <a:ln w="25400">
              <a:solidFill>
                <a:srgbClr val="4472C4"/>
              </a:solidFill>
            </a:ln>
          </c:spPr>
          <c:dPt>
            <c:idx val="0"/>
            <c:bubble3D val="0"/>
            <c:spPr>
              <a:solidFill>
                <a:srgbClr val="4472C4"/>
              </a:solidFill>
            </c:spPr>
            <c:extLst>
              <c:ext xmlns:c16="http://schemas.microsoft.com/office/drawing/2014/chart" uri="{C3380CC4-5D6E-409C-BE32-E72D297353CC}">
                <c16:uniqueId val="{00000001-87B0-4E44-821E-5A479B78F99A}"/>
              </c:ext>
            </c:extLst>
          </c:dPt>
          <c:dPt>
            <c:idx val="1"/>
            <c:bubble3D val="0"/>
            <c:spPr>
              <a:solidFill>
                <a:srgbClr val="ED7D31"/>
              </a:solidFill>
            </c:spPr>
            <c:extLst>
              <c:ext xmlns:c16="http://schemas.microsoft.com/office/drawing/2014/chart" uri="{C3380CC4-5D6E-409C-BE32-E72D297353CC}">
                <c16:uniqueId val="{00000003-87B0-4E44-821E-5A479B78F99A}"/>
              </c:ext>
            </c:extLst>
          </c:dPt>
          <c:dPt>
            <c:idx val="2"/>
            <c:bubble3D val="0"/>
            <c:spPr>
              <a:solidFill>
                <a:srgbClr val="A5A5A5"/>
              </a:solidFill>
            </c:spPr>
            <c:extLst>
              <c:ext xmlns:c16="http://schemas.microsoft.com/office/drawing/2014/chart" uri="{C3380CC4-5D6E-409C-BE32-E72D297353CC}">
                <c16:uniqueId val="{00000005-87B0-4E44-821E-5A479B78F99A}"/>
              </c:ext>
            </c:extLst>
          </c:dPt>
          <c:dPt>
            <c:idx val="3"/>
            <c:bubble3D val="0"/>
            <c:spPr>
              <a:solidFill>
                <a:srgbClr val="FFC000"/>
              </a:solidFill>
            </c:spPr>
            <c:extLst>
              <c:ext xmlns:c16="http://schemas.microsoft.com/office/drawing/2014/chart" uri="{C3380CC4-5D6E-409C-BE32-E72D297353CC}">
                <c16:uniqueId val="{00000007-87B0-4E44-821E-5A479B78F99A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1"/>
            <c:showBubbleSize val="1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72</c:v>
                </c:pt>
                <c:pt idx="3">
                  <c:v>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7B0-4E44-821E-5A479B78F99A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1"/>
          <c:showLeaderLines val="1"/>
        </c:dLbls>
        <c:firstSliceAng val="0"/>
      </c:pieChart>
    </c:plotArea>
    <c:legend>
      <c:legendPos val="b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spPr>
            <a:ln w="25400">
              <a:solidFill>
                <a:srgbClr val="4472C4"/>
              </a:solidFill>
            </a:ln>
          </c:spPr>
          <c:marker>
            <c:symbol val="circle"/>
            <c:size val="5"/>
          </c:marker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3</c:v>
                </c:pt>
                <c:pt idx="2">
                  <c:v>7</c:v>
                </c:pt>
                <c:pt idx="3">
                  <c:v>12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72</c:v>
                </c:pt>
                <c:pt idx="3">
                  <c:v>91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950-014F-8610-3CBB65CF1FC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1"/>
        </c:dLbls>
        <c:axId val="100"/>
        <c:axId val="200"/>
      </c:scatterChart>
      <c:valAx>
        <c:axId val="100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r>
                  <a:rPr lang="zh-CN"/>
                  <a:t>投入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200"/>
        <c:crosses val="autoZero"/>
        <c:crossBetween val="between"/>
      </c:valAx>
      <c:valAx>
        <c:axId val="200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100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8521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>
            <a:spLocks noGrp="1"/>
          </p:cNvSpPr>
          <p:nvPr>
            <p:ph type="body" idx="1"/>
          </p:nvPr>
        </p:nvSpPr>
        <p:spPr>
          <a:xfrm>
            <a:off x="1016000" y="1016000"/>
            <a:ext cx="3048000" cy="127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2400" b="0" i="0">
                <a:solidFill>
                  <a:srgbClr val="27B6A7">
                    <a:alpha val="100000"/>
                  </a:srgbClr>
                </a:solidFill>
                <a:latin typeface="sans-serif"/>
                <a:ea typeface="sans-serif"/>
              </a:rPr>
              <a:t>私密演讲者备注：第1页，仅在演示者窗口可见。</a:t>
            </a:r>
            <a:endParaRPr sz="24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>
            <a:spLocks noGrp="1"/>
          </p:cNvSpPr>
          <p:nvPr>
            <p:ph type="body" idx="1"/>
          </p:nvPr>
        </p:nvSpPr>
        <p:spPr>
          <a:xfrm>
            <a:off x="1016000" y="1016000"/>
            <a:ext cx="3048000" cy="127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2400" b="0" i="0">
                <a:solidFill>
                  <a:srgbClr val="27B6A7">
                    <a:alpha val="100000"/>
                  </a:srgbClr>
                </a:solidFill>
                <a:latin typeface="sans-serif"/>
                <a:ea typeface="sans-serif"/>
              </a:rPr>
              <a:t>私密演讲者备注：第2页，仅在演示者窗口可见。</a:t>
            </a:r>
            <a:endParaRPr sz="2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>
            <a:spLocks noGrp="1"/>
          </p:cNvSpPr>
          <p:nvPr>
            <p:ph type="body" idx="1"/>
          </p:nvPr>
        </p:nvSpPr>
        <p:spPr>
          <a:xfrm>
            <a:off x="1016000" y="1016000"/>
            <a:ext cx="3048000" cy="127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2400" b="0" i="0">
                <a:solidFill>
                  <a:srgbClr val="27B6A7">
                    <a:alpha val="100000"/>
                  </a:srgbClr>
                </a:solidFill>
                <a:latin typeface="sans-serif"/>
                <a:ea typeface="sans-serif"/>
              </a:rPr>
              <a:t>私密演讲者备注：第3页，仅在演示者窗口可见。</a:t>
            </a:r>
            <a:endParaRPr sz="2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>
            <a:spLocks noGrp="1"/>
          </p:cNvSpPr>
          <p:nvPr>
            <p:ph type="body" idx="1"/>
          </p:nvPr>
        </p:nvSpPr>
        <p:spPr>
          <a:xfrm>
            <a:off x="1016000" y="1016000"/>
            <a:ext cx="3048000" cy="127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2400" b="0" i="0">
                <a:solidFill>
                  <a:srgbClr val="27B6A7">
                    <a:alpha val="100000"/>
                  </a:srgbClr>
                </a:solidFill>
                <a:latin typeface="sans-serif"/>
                <a:ea typeface="sans-serif"/>
              </a:rPr>
              <a:t>私密演讲者备注：第4页，仅在演示者窗口可见。</a:t>
            </a:r>
            <a:endParaRPr sz="2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>
            <a:spLocks noGrp="1"/>
          </p:cNvSpPr>
          <p:nvPr>
            <p:ph type="body" idx="1"/>
          </p:nvPr>
        </p:nvSpPr>
        <p:spPr>
          <a:xfrm>
            <a:off x="1016000" y="1016000"/>
            <a:ext cx="3048000" cy="127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2400" b="0" i="0">
                <a:solidFill>
                  <a:srgbClr val="27B6A7">
                    <a:alpha val="100000"/>
                  </a:srgbClr>
                </a:solidFill>
                <a:latin typeface="sans-serif"/>
                <a:ea typeface="sans-serif"/>
              </a:rPr>
              <a:t>私密演讲者备注：第5页，仅在演示者窗口可见。</a:t>
            </a:r>
            <a:endParaRPr sz="2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>
            <a:spLocks noGrp="1"/>
          </p:cNvSpPr>
          <p:nvPr>
            <p:ph type="body" idx="1"/>
          </p:nvPr>
        </p:nvSpPr>
        <p:spPr>
          <a:xfrm>
            <a:off x="1016000" y="1016000"/>
            <a:ext cx="3048000" cy="127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2400" b="0" i="0">
                <a:solidFill>
                  <a:srgbClr val="27B6A7">
                    <a:alpha val="100000"/>
                  </a:srgbClr>
                </a:solidFill>
                <a:latin typeface="sans-serif"/>
                <a:ea typeface="sans-serif"/>
              </a:rPr>
              <a:t>私密演讲者备注：第6页，仅在演示者窗口可见。</a:t>
            </a:r>
            <a:endParaRPr sz="2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>
            <a:spLocks noGrp="1"/>
          </p:cNvSpPr>
          <p:nvPr>
            <p:ph type="body" idx="1"/>
          </p:nvPr>
        </p:nvSpPr>
        <p:spPr>
          <a:xfrm>
            <a:off x="1016000" y="1016000"/>
            <a:ext cx="3048000" cy="127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2400" b="0" i="0">
                <a:solidFill>
                  <a:srgbClr val="27B6A7">
                    <a:alpha val="100000"/>
                  </a:srgbClr>
                </a:solidFill>
                <a:latin typeface="sans-serif"/>
                <a:ea typeface="sans-serif"/>
              </a:rPr>
              <a:t>私密演讲者备注：第7页，仅在演示者窗口可见。</a:t>
            </a:r>
            <a:endParaRPr sz="24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JoyDeck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季度业务表现 · 柱形图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0"/>
          <p:cNvSpPr txBox="1"/>
          <p:nvPr/>
        </p:nvSpPr>
        <p:spPr>
          <a:xfrm>
            <a:off x="685800" y="406400"/>
            <a:ext cx="10795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3000" b="0" i="0">
                <a:solidFill>
                  <a:srgbClr val="20334D">
                    <a:alpha val="100000"/>
                  </a:srgbClr>
                </a:solidFill>
                <a:latin typeface="sans-serif"/>
                <a:ea typeface="sans-serif"/>
              </a:rPr>
              <a:t>季度业务表现 · 柱形图</a:t>
            </a:r>
            <a:endParaRPr sz="3000"/>
          </a:p>
        </p:txBody>
      </p:sp>
      <p:graphicFrame>
        <p:nvGraphicFramePr>
          <p:cNvPr id="3" name="content-0"/>
          <p:cNvGraphicFramePr/>
          <p:nvPr>
            <p:extLst>
              <p:ext uri="{D42A27DB-BD31-4B8C-83A1-F6EECF244321}">
                <p14:modId xmlns:p14="http://schemas.microsoft.com/office/powerpoint/2010/main" val="857880470"/>
              </p:ext>
            </p:extLst>
          </p:nvPr>
        </p:nvGraphicFramePr>
        <p:xfrm>
          <a:off x="939800" y="1549400"/>
          <a:ext cx="103124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footer-0"/>
          <p:cNvSpPr txBox="1"/>
          <p:nvPr/>
        </p:nvSpPr>
        <p:spPr>
          <a:xfrm>
            <a:off x="685800" y="6223000"/>
            <a:ext cx="1079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1300" b="0" i="0">
                <a:solidFill>
                  <a:srgbClr val="777777">
                    <a:alpha val="100000"/>
                  </a:srgbClr>
                </a:solidFill>
                <a:latin typeface="sans-serif"/>
                <a:ea typeface="sans-serif"/>
              </a:rPr>
              <a:t>FY 2026    /    JoyDeck 原创开发验证样例</a:t>
            </a:r>
            <a:endParaRPr sz="13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季度业务表现 · 条形图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"/>
          <p:cNvSpPr txBox="1"/>
          <p:nvPr/>
        </p:nvSpPr>
        <p:spPr>
          <a:xfrm>
            <a:off x="685800" y="406400"/>
            <a:ext cx="10795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3000" b="0" i="0">
                <a:solidFill>
                  <a:srgbClr val="20334D">
                    <a:alpha val="100000"/>
                  </a:srgbClr>
                </a:solidFill>
                <a:latin typeface="sans-serif"/>
                <a:ea typeface="sans-serif"/>
              </a:rPr>
              <a:t>季度业务表现 · 条形图</a:t>
            </a:r>
            <a:endParaRPr sz="3000"/>
          </a:p>
        </p:txBody>
      </p:sp>
      <p:graphicFrame>
        <p:nvGraphicFramePr>
          <p:cNvPr id="3" name="content-1"/>
          <p:cNvGraphicFramePr/>
          <p:nvPr/>
        </p:nvGraphicFramePr>
        <p:xfrm>
          <a:off x="939800" y="1549400"/>
          <a:ext cx="103124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footer-1"/>
          <p:cNvSpPr txBox="1"/>
          <p:nvPr/>
        </p:nvSpPr>
        <p:spPr>
          <a:xfrm>
            <a:off x="685800" y="6223000"/>
            <a:ext cx="1079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1300" b="0" i="0">
                <a:solidFill>
                  <a:srgbClr val="777777">
                    <a:alpha val="100000"/>
                  </a:srgbClr>
                </a:solidFill>
                <a:latin typeface="sans-serif"/>
                <a:ea typeface="sans-serif"/>
              </a:rPr>
              <a:t>FY 2026    /    JoyDeck 原创开发验证样例</a:t>
            </a:r>
            <a:endParaRPr sz="13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季度业务表现 · 折线图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2"/>
          <p:cNvSpPr txBox="1"/>
          <p:nvPr/>
        </p:nvSpPr>
        <p:spPr>
          <a:xfrm>
            <a:off x="685800" y="406400"/>
            <a:ext cx="10795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3000" b="0" i="0">
                <a:solidFill>
                  <a:srgbClr val="20334D">
                    <a:alpha val="100000"/>
                  </a:srgbClr>
                </a:solidFill>
                <a:latin typeface="sans-serif"/>
                <a:ea typeface="sans-serif"/>
              </a:rPr>
              <a:t>季度业务表现 · 折线图</a:t>
            </a:r>
            <a:endParaRPr sz="3000"/>
          </a:p>
        </p:txBody>
      </p:sp>
      <p:graphicFrame>
        <p:nvGraphicFramePr>
          <p:cNvPr id="3" name="content-2"/>
          <p:cNvGraphicFramePr/>
          <p:nvPr/>
        </p:nvGraphicFramePr>
        <p:xfrm>
          <a:off x="939800" y="1549400"/>
          <a:ext cx="103124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footer-2"/>
          <p:cNvSpPr txBox="1"/>
          <p:nvPr/>
        </p:nvSpPr>
        <p:spPr>
          <a:xfrm>
            <a:off x="685800" y="6223000"/>
            <a:ext cx="1079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1300" b="0" i="0">
                <a:solidFill>
                  <a:srgbClr val="777777">
                    <a:alpha val="100000"/>
                  </a:srgbClr>
                </a:solidFill>
                <a:latin typeface="sans-serif"/>
                <a:ea typeface="sans-serif"/>
              </a:rPr>
              <a:t>FY 2026    /    JoyDeck 原创开发验证样例</a:t>
            </a:r>
            <a:endParaRPr sz="13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季度业务表现 · 饼图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3"/>
          <p:cNvSpPr txBox="1"/>
          <p:nvPr/>
        </p:nvSpPr>
        <p:spPr>
          <a:xfrm>
            <a:off x="685800" y="406400"/>
            <a:ext cx="10795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3000" b="0" i="0">
                <a:solidFill>
                  <a:srgbClr val="20334D">
                    <a:alpha val="100000"/>
                  </a:srgbClr>
                </a:solidFill>
                <a:latin typeface="sans-serif"/>
                <a:ea typeface="sans-serif"/>
              </a:rPr>
              <a:t>季度业务表现 · 饼图</a:t>
            </a:r>
            <a:endParaRPr sz="3000"/>
          </a:p>
        </p:txBody>
      </p:sp>
      <p:graphicFrame>
        <p:nvGraphicFramePr>
          <p:cNvPr id="3" name="content-3"/>
          <p:cNvGraphicFramePr/>
          <p:nvPr/>
        </p:nvGraphicFramePr>
        <p:xfrm>
          <a:off x="939800" y="1549400"/>
          <a:ext cx="103124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footer-3"/>
          <p:cNvSpPr txBox="1"/>
          <p:nvPr/>
        </p:nvSpPr>
        <p:spPr>
          <a:xfrm>
            <a:off x="685800" y="6223000"/>
            <a:ext cx="1079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1300" b="0" i="0">
                <a:solidFill>
                  <a:srgbClr val="777777">
                    <a:alpha val="100000"/>
                  </a:srgbClr>
                </a:solidFill>
                <a:latin typeface="sans-serif"/>
                <a:ea typeface="sans-serif"/>
              </a:rPr>
              <a:t>FY 2026    /    JoyDeck 原创开发验证样例</a:t>
            </a:r>
            <a:endParaRPr sz="13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季度业务表现 · 散点图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4"/>
          <p:cNvSpPr txBox="1"/>
          <p:nvPr/>
        </p:nvSpPr>
        <p:spPr>
          <a:xfrm>
            <a:off x="685800" y="406400"/>
            <a:ext cx="10795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3000" b="0" i="0">
                <a:solidFill>
                  <a:srgbClr val="20334D">
                    <a:alpha val="100000"/>
                  </a:srgbClr>
                </a:solidFill>
                <a:latin typeface="sans-serif"/>
                <a:ea typeface="sans-serif"/>
              </a:rPr>
              <a:t>季度业务表现 · 散点图</a:t>
            </a:r>
            <a:endParaRPr sz="3000"/>
          </a:p>
        </p:txBody>
      </p:sp>
      <p:graphicFrame>
        <p:nvGraphicFramePr>
          <p:cNvPr id="3" name="content-4"/>
          <p:cNvGraphicFramePr/>
          <p:nvPr/>
        </p:nvGraphicFramePr>
        <p:xfrm>
          <a:off x="939800" y="1549400"/>
          <a:ext cx="103124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footer-4"/>
          <p:cNvSpPr txBox="1"/>
          <p:nvPr/>
        </p:nvSpPr>
        <p:spPr>
          <a:xfrm>
            <a:off x="685800" y="6223000"/>
            <a:ext cx="1079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1300" b="0" i="0">
                <a:solidFill>
                  <a:srgbClr val="777777">
                    <a:alpha val="100000"/>
                  </a:srgbClr>
                </a:solidFill>
                <a:latin typeface="sans-serif"/>
                <a:ea typeface="sans-serif"/>
              </a:rPr>
              <a:t>FY 2026    /    JoyDeck 原创开发验证样例</a:t>
            </a:r>
            <a:endParaRPr sz="13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从计划到成果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5"/>
          <p:cNvSpPr txBox="1"/>
          <p:nvPr/>
        </p:nvSpPr>
        <p:spPr>
          <a:xfrm>
            <a:off x="685800" y="406400"/>
            <a:ext cx="10795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3000" b="0" i="0">
                <a:solidFill>
                  <a:srgbClr val="20334D">
                    <a:alpha val="100000"/>
                  </a:srgbClr>
                </a:solidFill>
                <a:latin typeface="sans-serif"/>
                <a:ea typeface="sans-serif"/>
              </a:rPr>
              <a:t>从计划到成果</a:t>
            </a:r>
            <a:endParaRPr sz="3000"/>
          </a:p>
        </p:txBody>
      </p:sp>
      <p:grpSp>
        <p:nvGrpSpPr>
          <p:cNvPr id="3" name="content-5"/>
          <p:cNvGrpSpPr/>
          <p:nvPr/>
        </p:nvGrpSpPr>
        <p:grpSpPr>
          <a:xfrm>
            <a:off x="939800" y="1549400"/>
            <a:ext cx="10312400" cy="4191000"/>
            <a:chOff x="939800" y="1549400"/>
            <a:chExt cx="10312400" cy="4191000"/>
          </a:xfrm>
        </p:grpSpPr>
        <p:sp>
          <p:nvSpPr>
            <p:cNvPr id="1000768" name="content-5:node:0"/>
            <p:cNvSpPr/>
            <p:nvPr/>
          </p:nvSpPr>
          <p:spPr>
            <a:xfrm>
              <a:off x="939800" y="2597150"/>
              <a:ext cx="2921847" cy="2095500"/>
            </a:xfrm>
            <a:prstGeom prst="roundRect">
              <a:avLst/>
            </a:prstGeom>
            <a:solidFill>
              <a:srgbClr val="4472C4">
                <a:alpha val="10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769" name="content-5:text:0"/>
            <p:cNvSpPr txBox="1"/>
            <p:nvPr/>
          </p:nvSpPr>
          <p:spPr>
            <a:xfrm>
              <a:off x="1016000" y="3121025"/>
              <a:ext cx="2769447" cy="1466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pPr>
                <a:lnSpc>
                  <a:spcPct val="130000"/>
                </a:lnSpc>
              </a:pPr>
              <a:r>
                <a:rPr lang="zh-CN" sz="2400" b="0" i="0">
                  <a:solidFill>
                    <a:srgbClr val="FFFFFF">
                      <a:alpha val="100000"/>
                    </a:srgbClr>
                  </a:solidFill>
                  <a:latin typeface="sans-serif"/>
                  <a:ea typeface="sans-serif"/>
                </a:rPr>
                <a:t>制定计划</a:t>
              </a:r>
              <a:endParaRPr sz="2400"/>
            </a:p>
          </p:txBody>
        </p:sp>
        <p:sp>
          <p:nvSpPr>
            <p:cNvPr id="1000770" name="content-5:arrow:0"/>
            <p:cNvSpPr/>
            <p:nvPr/>
          </p:nvSpPr>
          <p:spPr>
            <a:xfrm>
              <a:off x="3887046" y="3435350"/>
              <a:ext cx="464820" cy="419100"/>
            </a:xfrm>
            <a:prstGeom prst="rightArrow">
              <a:avLst/>
            </a:prstGeom>
            <a:solidFill>
              <a:srgbClr val="4472C4">
                <a:alpha val="10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771" name="content-5:node:1"/>
            <p:cNvSpPr/>
            <p:nvPr/>
          </p:nvSpPr>
          <p:spPr>
            <a:xfrm>
              <a:off x="4377267" y="2597150"/>
              <a:ext cx="2921847" cy="2095500"/>
            </a:xfrm>
            <a:prstGeom prst="roundRect">
              <a:avLst/>
            </a:prstGeom>
            <a:solidFill>
              <a:srgbClr val="4472C4">
                <a:alpha val="10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772" name="content-5:text:1"/>
            <p:cNvSpPr txBox="1"/>
            <p:nvPr/>
          </p:nvSpPr>
          <p:spPr>
            <a:xfrm>
              <a:off x="4453467" y="3121025"/>
              <a:ext cx="2769447" cy="1466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pPr>
                <a:lnSpc>
                  <a:spcPct val="130000"/>
                </a:lnSpc>
              </a:pPr>
              <a:r>
                <a:rPr lang="zh-CN" sz="2400" b="0" i="0">
                  <a:solidFill>
                    <a:srgbClr val="FFFFFF">
                      <a:alpha val="100000"/>
                    </a:srgbClr>
                  </a:solidFill>
                  <a:latin typeface="sans-serif"/>
                  <a:ea typeface="sans-serif"/>
                </a:rPr>
                <a:t>组织实施</a:t>
              </a:r>
              <a:endParaRPr sz="2400"/>
            </a:p>
          </p:txBody>
        </p:sp>
        <p:sp>
          <p:nvSpPr>
            <p:cNvPr id="1000773" name="content-5:arrow:1"/>
            <p:cNvSpPr/>
            <p:nvPr/>
          </p:nvSpPr>
          <p:spPr>
            <a:xfrm>
              <a:off x="7324513" y="3435350"/>
              <a:ext cx="464820" cy="419100"/>
            </a:xfrm>
            <a:prstGeom prst="rightArrow">
              <a:avLst/>
            </a:prstGeom>
            <a:solidFill>
              <a:srgbClr val="4472C4">
                <a:alpha val="10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774" name="content-5:node:2"/>
            <p:cNvSpPr/>
            <p:nvPr/>
          </p:nvSpPr>
          <p:spPr>
            <a:xfrm>
              <a:off x="7814733" y="2597150"/>
              <a:ext cx="2921847" cy="2095500"/>
            </a:xfrm>
            <a:prstGeom prst="roundRect">
              <a:avLst/>
            </a:prstGeom>
            <a:solidFill>
              <a:srgbClr val="4472C4">
                <a:alpha val="10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775" name="content-5:text:2"/>
            <p:cNvSpPr txBox="1"/>
            <p:nvPr/>
          </p:nvSpPr>
          <p:spPr>
            <a:xfrm>
              <a:off x="7890933" y="3121025"/>
              <a:ext cx="2769447" cy="1466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pPr>
                <a:lnSpc>
                  <a:spcPct val="130000"/>
                </a:lnSpc>
              </a:pPr>
              <a:r>
                <a:rPr lang="zh-CN" sz="2400" b="0" i="0">
                  <a:solidFill>
                    <a:srgbClr val="FFFFFF">
                      <a:alpha val="100000"/>
                    </a:srgbClr>
                  </a:solidFill>
                  <a:latin typeface="sans-serif"/>
                  <a:ea typeface="sans-serif"/>
                </a:rPr>
                <a:t>评估优化</a:t>
              </a:r>
              <a:endParaRPr sz="2400"/>
            </a:p>
          </p:txBody>
        </p:sp>
      </p:grpSp>
      <p:sp>
        <p:nvSpPr>
          <p:cNvPr id="4" name="footer-5"/>
          <p:cNvSpPr txBox="1"/>
          <p:nvPr/>
        </p:nvSpPr>
        <p:spPr>
          <a:xfrm>
            <a:off x="685800" y="6223000"/>
            <a:ext cx="1079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1300" b="0" i="0">
                <a:solidFill>
                  <a:srgbClr val="777777">
                    <a:alpha val="100000"/>
                  </a:srgbClr>
                </a:solidFill>
                <a:latin typeface="sans-serif"/>
                <a:ea typeface="sans-serif"/>
              </a:rPr>
              <a:t>FY 2026    /    JoyDeck 原创开发验证样例</a:t>
            </a:r>
            <a:endParaRPr sz="13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从计划到成果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6"/>
          <p:cNvSpPr txBox="1"/>
          <p:nvPr/>
        </p:nvSpPr>
        <p:spPr>
          <a:xfrm>
            <a:off x="685800" y="406400"/>
            <a:ext cx="10795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3000" b="0" i="0">
                <a:solidFill>
                  <a:srgbClr val="20334D">
                    <a:alpha val="100000"/>
                  </a:srgbClr>
                </a:solidFill>
                <a:latin typeface="sans-serif"/>
                <a:ea typeface="sans-serif"/>
              </a:rPr>
              <a:t>从计划到成果</a:t>
            </a:r>
            <a:endParaRPr sz="3000"/>
          </a:p>
        </p:txBody>
      </p:sp>
      <p:grpSp>
        <p:nvGrpSpPr>
          <p:cNvPr id="3" name="content-6"/>
          <p:cNvGrpSpPr/>
          <p:nvPr/>
        </p:nvGrpSpPr>
        <p:grpSpPr>
          <a:xfrm>
            <a:off x="939800" y="1549400"/>
            <a:ext cx="10312400" cy="4191000"/>
            <a:chOff x="939800" y="1549400"/>
            <a:chExt cx="10312400" cy="4191000"/>
          </a:xfrm>
        </p:grpSpPr>
        <p:sp>
          <p:nvSpPr>
            <p:cNvPr id="1000768" name="content-6:connector:1"/>
            <p:cNvSpPr/>
            <p:nvPr/>
          </p:nvSpPr>
          <p:spPr>
            <a:xfrm rot="10193081">
              <a:off x="3498664" y="2716530"/>
              <a:ext cx="2616571" cy="12700"/>
            </a:xfrm>
            <a:prstGeom prst="line">
              <a:avLst/>
            </a:prstGeom>
            <a:noFill/>
            <a:ln w="25400">
              <a:solidFill>
                <a:srgbClr val="4472C4">
                  <a:alpha val="10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769" name="content-6:connector:2"/>
            <p:cNvSpPr/>
            <p:nvPr/>
          </p:nvSpPr>
          <p:spPr>
            <a:xfrm rot="573548">
              <a:off x="3498664" y="4113530"/>
              <a:ext cx="2616571" cy="12700"/>
            </a:xfrm>
            <a:prstGeom prst="line">
              <a:avLst/>
            </a:prstGeom>
            <a:noFill/>
            <a:ln w="25400">
              <a:solidFill>
                <a:srgbClr val="4472C4">
                  <a:alpha val="10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770" name="content-6:connector:3"/>
            <p:cNvSpPr/>
            <p:nvPr/>
          </p:nvSpPr>
          <p:spPr>
            <a:xfrm rot="573547">
              <a:off x="6076764" y="2716530"/>
              <a:ext cx="2616571" cy="12700"/>
            </a:xfrm>
            <a:prstGeom prst="line">
              <a:avLst/>
            </a:prstGeom>
            <a:noFill/>
            <a:ln w="25400">
              <a:solidFill>
                <a:srgbClr val="4472C4">
                  <a:alpha val="10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771" name="content-6:node:0"/>
            <p:cNvSpPr/>
            <p:nvPr/>
          </p:nvSpPr>
          <p:spPr>
            <a:xfrm>
              <a:off x="990600" y="1549400"/>
              <a:ext cx="10210800" cy="949960"/>
            </a:xfrm>
            <a:prstGeom prst="roundRect">
              <a:avLst/>
            </a:prstGeom>
            <a:solidFill>
              <a:srgbClr val="4472C4">
                <a:alpha val="10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772" name="content-6:text:0"/>
            <p:cNvSpPr txBox="1"/>
            <p:nvPr/>
          </p:nvSpPr>
          <p:spPr>
            <a:xfrm>
              <a:off x="1066800" y="1786890"/>
              <a:ext cx="10058400" cy="6649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pPr>
                <a:lnSpc>
                  <a:spcPct val="130000"/>
                </a:lnSpc>
              </a:pPr>
              <a:r>
                <a:rPr lang="zh-CN" sz="2400" b="0" i="0">
                  <a:solidFill>
                    <a:srgbClr val="FFFFFF">
                      <a:alpha val="100000"/>
                    </a:srgbClr>
                  </a:solidFill>
                  <a:latin typeface="sans-serif"/>
                  <a:ea typeface="sans-serif"/>
                </a:rPr>
                <a:t>业务计划</a:t>
              </a:r>
              <a:endParaRPr sz="2400"/>
            </a:p>
          </p:txBody>
        </p:sp>
        <p:sp>
          <p:nvSpPr>
            <p:cNvPr id="1000773" name="content-6:node:1"/>
            <p:cNvSpPr/>
            <p:nvPr/>
          </p:nvSpPr>
          <p:spPr>
            <a:xfrm>
              <a:off x="990600" y="2946400"/>
              <a:ext cx="5054600" cy="949960"/>
            </a:xfrm>
            <a:prstGeom prst="roundRect">
              <a:avLst/>
            </a:prstGeom>
            <a:solidFill>
              <a:srgbClr val="4472C4">
                <a:alpha val="10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774" name="content-6:text:1"/>
            <p:cNvSpPr txBox="1"/>
            <p:nvPr/>
          </p:nvSpPr>
          <p:spPr>
            <a:xfrm>
              <a:off x="1066800" y="3183890"/>
              <a:ext cx="4902200" cy="6649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pPr>
                <a:lnSpc>
                  <a:spcPct val="130000"/>
                </a:lnSpc>
              </a:pPr>
              <a:r>
                <a:rPr lang="zh-CN" sz="2400" b="0" i="0">
                  <a:solidFill>
                    <a:srgbClr val="FFFFFF">
                      <a:alpha val="100000"/>
                    </a:srgbClr>
                  </a:solidFill>
                  <a:latin typeface="sans-serif"/>
                  <a:ea typeface="sans-serif"/>
                </a:rPr>
                <a:t>客户增长</a:t>
              </a:r>
              <a:endParaRPr sz="2400"/>
            </a:p>
          </p:txBody>
        </p:sp>
        <p:sp>
          <p:nvSpPr>
            <p:cNvPr id="1000775" name="content-6:node:2"/>
            <p:cNvSpPr/>
            <p:nvPr/>
          </p:nvSpPr>
          <p:spPr>
            <a:xfrm>
              <a:off x="990600" y="4343400"/>
              <a:ext cx="10210800" cy="949960"/>
            </a:xfrm>
            <a:prstGeom prst="roundRect">
              <a:avLst/>
            </a:prstGeom>
            <a:solidFill>
              <a:srgbClr val="4472C4">
                <a:alpha val="10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776" name="content-6:text:2"/>
            <p:cNvSpPr txBox="1"/>
            <p:nvPr/>
          </p:nvSpPr>
          <p:spPr>
            <a:xfrm>
              <a:off x="1066800" y="4580890"/>
              <a:ext cx="10058400" cy="6649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pPr>
                <a:lnSpc>
                  <a:spcPct val="130000"/>
                </a:lnSpc>
              </a:pPr>
              <a:r>
                <a:rPr lang="zh-CN" sz="2400" b="0" i="0">
                  <a:solidFill>
                    <a:srgbClr val="FFFFFF">
                      <a:alpha val="100000"/>
                    </a:srgbClr>
                  </a:solidFill>
                  <a:latin typeface="sans-serif"/>
                  <a:ea typeface="sans-serif"/>
                </a:rPr>
                <a:t>客户体验</a:t>
              </a:r>
              <a:endParaRPr sz="2400"/>
            </a:p>
          </p:txBody>
        </p:sp>
        <p:sp>
          <p:nvSpPr>
            <p:cNvPr id="1000777" name="content-6:node:3"/>
            <p:cNvSpPr/>
            <p:nvPr/>
          </p:nvSpPr>
          <p:spPr>
            <a:xfrm>
              <a:off x="6146800" y="2946400"/>
              <a:ext cx="5054600" cy="949960"/>
            </a:xfrm>
            <a:prstGeom prst="roundRect">
              <a:avLst/>
            </a:prstGeom>
            <a:solidFill>
              <a:srgbClr val="4472C4">
                <a:alpha val="10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0778" name="content-6:text:3"/>
            <p:cNvSpPr txBox="1"/>
            <p:nvPr/>
          </p:nvSpPr>
          <p:spPr>
            <a:xfrm>
              <a:off x="6223000" y="3183890"/>
              <a:ext cx="4902200" cy="6649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pPr>
                <a:lnSpc>
                  <a:spcPct val="130000"/>
                </a:lnSpc>
              </a:pPr>
              <a:r>
                <a:rPr lang="zh-CN" sz="2400" b="0" i="0">
                  <a:solidFill>
                    <a:srgbClr val="FFFFFF">
                      <a:alpha val="100000"/>
                    </a:srgbClr>
                  </a:solidFill>
                  <a:latin typeface="sans-serif"/>
                  <a:ea typeface="sans-serif"/>
                </a:rPr>
                <a:t>产品迭代</a:t>
              </a:r>
              <a:endParaRPr sz="2400"/>
            </a:p>
          </p:txBody>
        </p:sp>
      </p:grpSp>
      <p:sp>
        <p:nvSpPr>
          <p:cNvPr id="4" name="footer-6"/>
          <p:cNvSpPr txBox="1"/>
          <p:nvPr/>
        </p:nvSpPr>
        <p:spPr>
          <a:xfrm>
            <a:off x="685800" y="6223000"/>
            <a:ext cx="1079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1300" b="0" i="0">
                <a:solidFill>
                  <a:srgbClr val="777777">
                    <a:alpha val="100000"/>
                  </a:srgbClr>
                </a:solidFill>
                <a:latin typeface="sans-serif"/>
                <a:ea typeface="sans-serif"/>
              </a:rPr>
              <a:t>FY 2026    /    JoyDeck 原创开发验证样例</a:t>
            </a:r>
            <a:endParaRPr sz="13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JoyDeck Original">
  <a:themeElements>
    <a:clrScheme name="JoyDeck">
      <a:dk1>
        <a:srgbClr val="202B3A"/>
      </a:dk1>
      <a:lt1>
        <a:srgbClr val="FFFFFF"/>
      </a:lt1>
      <a:dk2>
        <a:srgbClr val="15202D"/>
      </a:dk2>
      <a:lt2>
        <a:srgbClr val="EEEEEE"/>
      </a:lt2>
      <a:accent1>
        <a:srgbClr val="087F8C"/>
      </a:accent1>
      <a:accent2>
        <a:srgbClr val="1265C5"/>
      </a:accent2>
      <a:accent3>
        <a:srgbClr val="C05050"/>
      </a:accent3>
      <a:accent4>
        <a:srgbClr val="808040"/>
      </a:accent4>
      <a:accent5>
        <a:srgbClr val="804080"/>
      </a:accent5>
      <a:accent6>
        <a:srgbClr val="408080"/>
      </a:accent6>
      <a:hlink>
        <a:srgbClr val="0000FF"/>
      </a:hlink>
      <a:folHlink>
        <a:srgbClr val="800080"/>
      </a:folHlink>
    </a:clrScheme>
    <a:fontScheme name="JoyDec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JoyDec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jd:document xmlns:jd="urn:joydeck:interop:1" version="1" digest="966c45665f1d19c49142afc194ff6956f1f11ae170cf4a8fd652689c7b369810">eyJwcmVzZW50YXRpb24iOnsic2xpZGVzIjp7InBhZ2UtMCI6eyJ0cmFuc2l0aW9uIjoibm9uZSIsImR1cmF0aW9uX21zIjo2MDAsImFkdmFuY2VfbXMiOm51bGwsImVmZmVjdHMiOlt7ImlkIjoiZW50cmFuY2UtMCIsInRhcmdldCI6ImNvbnRlbnQtMCIsImtpbmQiOiJmYWRlIiwidHJpZ2dlciI6ImNsaWNrIiwiZHVyYXRpb25fbXMiOjYwMCwiZGVsYXlfbXMiOjAsInJlcGVhdHMiOjEsImF1dG9fcmV2ZXJzZSI6ZmFsc2UsInJld2luZCI6ZmFsc2UsInBhcmFncmFwaCI6bnVsbCwiZHgiOi0xODAuMCwiZHkiOjAuMCwiYW1vdW50IjozNjAuMH1dfSwicGFnZS0xIjp7InRyYW5zaXRpb24iOiJmYWRlIiwiZHVyYXRpb25fbXMiOjYwMCwiYWR2YW5jZV9tcyI6bnVsbCwiZWZmZWN0cyI6W3siaWQiOiJlbnRyYW5jZS0xIiwidGFyZ2V0IjoiY29udGVudC0xIiwia2luZCI6ImZhZGUiLCJ0cmlnZ2VyIjoiY2xpY2siLCJkdXJhdGlvbl9tcyI6NjAwLCJkZWxheV9tcyI6MCwicmVwZWF0cyI6MSwiYXV0b19yZXZlcnNlIjpmYWxzZSwicmV3aW5kIjpmYWxzZSwicGFyYWdyYXBoIjpudWxsLCJkeCI6LTE4MC4wLCJkeSI6MC4wLCJhbW91bnQiOjM2MC4wfV19LCJwYWdlLTIiOnsidHJhbnNpdGlvbiI6ImZhZGUiLCJkdXJhdGlvbl9tcyI6NjAwLCJhZHZhbmNlX21zIjpudWxsLCJlZmZlY3RzIjpbeyJpZCI6ImVudHJhbmNlLTIiLCJ0YXJnZXQiOiJjb250ZW50LTIiLCJraW5kIjoiZmFkZSIsInRyaWdnZXIiOiJjbGljayIsImR1cmF0aW9uX21zIjo2MDAsImRlbGF5X21zIjowLCJyZXBlYXRzIjoxLCJhdXRvX3JldmVyc2UiOmZhbHNlLCJyZXdpbmQiOmZhbHNlLCJwYXJhZ3JhcGgiOm51bGwsImR4IjotMTgwLjAsImR5IjowLjAsImFtb3VudCI6MzYwLjB9XX0sInBhZ2UtMyI6eyJ0cmFuc2l0aW9uIjoiZmFkZSIsImR1cmF0aW9uX21zIjo2MDAsImFkdmFuY2VfbXMiOm51bGwsImVmZmVjdHMiOlt7ImlkIjoiZW50cmFuY2UtMyIsInRhcmdldCI6ImNvbnRlbnQtMyIsImtpbmQiOiJmYWRlIiwidHJpZ2dlciI6ImNsaWNrIiwiZHVyYXRpb25fbXMiOjYwMCwiZGVsYXlfbXMiOjAsInJlcGVhdHMiOjEsImF1dG9fcmV2ZXJzZSI6ZmFsc2UsInJld2luZCI6ZmFsc2UsInBhcmFncmFwaCI6bnVsbCwiZHgiOi0xODAuMCwiZHkiOjAuMCwiYW1vdW50IjozNjAuMH1dfSwicGFnZS00Ijp7InRyYW5zaXRpb24iOiJmYWRlIiwiZHVyYXRpb25fbXMiOjYwMCwiYWR2YW5jZV9tcyI6bnVsbCwiZWZmZWN0cyI6W3siaWQiOiJlbnRyYW5jZS00IiwidGFyZ2V0IjoiY29udGVudC00Iiwia2luZCI6ImZhZGUiLCJ0cmlnZ2VyIjoiY2xpY2siLCJkdXJhdGlvbl9tcyI6NjAwLCJkZWxheV9tcyI6MCwicmVwZWF0cyI6MSwiYXV0b19yZXZlcnNlIjpmYWxzZSwicmV3aW5kIjpmYWxzZSwicGFyYWdyYXBoIjpudWxsLCJkeCI6LTE4MC4wLCJkeSI6MC4wLCJhbW91bnQiOjM2MC4wfV19LCJwYWdlLTUiOnsidHJhbnNpdGlvbiI6ImZhZGUiLCJkdXJhdGlvbl9tcyI6NjAwLCJhZHZhbmNlX21zIjpudWxsLCJlZmZlY3RzIjpbeyJpZCI6ImVudHJhbmNlLTUiLCJ0YXJnZXQiOiJjb250ZW50LTUiLCJraW5kIjoiZmFkZSIsInRyaWdnZXIiOiJjbGljayIsImR1cmF0aW9uX21zIjo2MDAsImRlbGF5X21zIjowLCJyZXBlYXRzIjoxLCJhdXRvX3JldmVyc2UiOmZhbHNlLCJyZXdpbmQiOmZhbHNlLCJwYXJhZ3JhcGgiOm51bGwsImR4IjotMTgwLjAsImR5IjowLjAsImFtb3VudCI6MzYwLjB9XX0sInBhZ2UtNiI6eyJ0cmFuc2l0aW9uIjoiZmFkZSIsImR1cmF0aW9uX21zIjo2MDAsImFkdmFuY2VfbXMiOm51bGwsImVmZmVjdHMiOlt7ImlkIjoiZW50cmFuY2UtNiIsInRhcmdldCI6ImNvbnRlbnQtNiIsImtpbmQiOiJmYWRlIiwidHJpZ2dlciI6ImNsaWNrIiwiZHVyYXRpb25fbXMiOjYwMCwiZGVsYXlfbXMiOjAsInJlcGVhdHMiOjEsImF1dG9fcmV2ZXJzZSI6ZmFsc2UsInJld2luZCI6ZmFsc2UsInBhcmFncmFwaCI6bnVsbCwiZHgiOi0xODAuMCwiZHkiOjAuMCwiYW1vdW50IjozNjAuMH1dfX0sIm9yZGVyIjpbXSwibG9vcF9zaG93IjpmYWxzZSwibGlua3MiOnt9fSwiZGVzaWduIjp7InRoZW1lcyI6e30sIm1hc3RlcnMiOnt9LCJsYXlvdXRzIjp7fX0sIm9yZ2FuaXphdGlvbiI6eyJhdXRob3IiOiIiLCJzdWJqZWN0IjoiIiwic2VjdGlvbnMiOnt9fSwiZmllbGREYXRlIjoiIiwidGl0bGUiOiLlraPluqbkuJrliqHlm57pob4iLCJ3aWR0aCI6OTYwLjAsImhlaWdodCI6NTQwLjAsInNsaWRlcyI6W3sibGF5b3V0IjpudWxsLCJpbmhlcml0X2JhY2tncm91bmQiOmZhbHNlLCJub3RlcyI6IuengeWvhua8lOiusuiAheWkh+azqO+8muesrDHpobXvvIzku4XlnKjmvJTnpLrogIXnqpflj6Plj6/op4HjgIIiLCJzZWN0aW9uIjpudWxsLCJoaWRkZW4iOmZhbHNlLCJpZCI6InBhZ2UtMCIsInRpdGxlIjoi5a2j5bqm5Lia5Yqh6KGo546wIMK3IOafseW9ouWbviIsImJhY2tncm91bmQiOiIjZmZmZmZmIiwib2JqZWN0cyI6W3siaWQiOiJ0aXRsZS0wIiwicm90YXRpb24iOjAuMCwib3BhY2l0eSI6MS4wLCJzdHJva2UiOiIjMjAyYjNhIiwic3Ryb2tlV2lkdGgiOjAuMCwia2luZCI6InRleHQiLCJ4Ijo1NC4wLCJ5IjozMi4wLCJ3aWR0aCI6ODUwLjAsImhlaWdodCI6NTAuMCwiZmlsbCI6IiMyMDMzNGQiLCJ0ZXh0Ijoi5a2j5bqm5Lia5Yqh6KGo546wIMK3IOafseW9ouWbviIsImZvbnRTaXplIjozMC4wfSx7ImNoYXJ0Ijp7ImtpbmQiOiJjb2x1bW4iLCJ0aXRsZSI6IiIsImNhdGVnb3JpZXMiOlsi56ys5LiA5a2j5bqmIiwi56ys5LqM5a2j5bqmIiwi56ys5LiJ5a2j5bqmIiwi56ys5Zub5a2j5bqmIl0sInNlcmllcyI6W3sibmFtZSI6IuaUtuWFpSIsInZhbHVlcyI6WzQyLjAsNTguMCw3Mi4wLDkxLjBdLCJ4IjpbXX1dLCJsZWdlbmQiOnRydWUsImdyaWQiOnRydWUsImxhYmVscyI6dHJ1ZSwieF90aXRsZSI6IiIsInlfdGl0bGUiOiIiLCJ1bml0IjoiIOS4h+WFgyIsIm1pbmltdW0iOm51bGwsIm1heGltdW0iOm51bGwsImNvbG9ycyI6WyIjNDQ3MmM0IiwiI2VkN2QzMSIsIiNhNWE1YTUiLCIjZmZjMDAwIiwiIzViOWJkNSIsIiM3MGFkNDciXX0sImlkIjoiY29udGVudC0wIiwicm90YXRpb24iOjAuMCwib3BhY2l0eSI6MS4wLCJzdHJva2UiOiIjMjAyYjNhIiwic3Ryb2tlV2lkdGgiOjAuMCwia2luZCI6ImNoYXJ0IiwieCI6NzQuMCwieSI6MTIyLjAsIndpZHRoIjo4MTIuMCwiaGVpZ2h0IjozMzAuMCwiZmlsbCI6IiMyN2I2YTciLCJ0ZXh0IjoiIiwiZm9udFNpemUiOjI0LjB9LHsiaWQiOiJmb290ZXItMCIsInJvdGF0aW9uIjowLjAsIm9wYWNpdHkiOjEuMCwic3Ryb2tlIjoiIzIwMmIzYSIsInN0cm9rZVdpZHRoIjowLjAsImtpbmQiOiJ0ZXh0IiwieCI6NTQuMCwieSI6NDkwLjAsIndpZHRoIjo4NTAuMCwiaGVpZ2h0IjoyNS4wLCJmaWxsIjoiIzc3Nzc3NyIsInRleHQiOiJGWSAyMDI2ICAgIC8gICAgSm95RGVjayDljp/liJvlvIDlj5Hpqozor4HmoLfkvosiLCJmb250U2l6ZSI6MTMuMH1dfSx7ImxheW91dCI6bnVsbCwiaW5oZXJpdF9iYWNrZ3JvdW5kIjpmYWxzZSwibm90ZXMiOiLnp4Hlr4bmvJTorrLogIXlpIfms6jvvJrnrKwy6aG177yM5LuF5Zyo5ryU56S66ICF56qX5Y+j5Y+v6KeB44CCIiwic2VjdGlvbiI6bnVsbCwiaGlkZGVuIjpmYWxzZSwiaWQiOiJwYWdlLTEiLCJ0aXRsZSI6IuWto+W6puS4muWKoeihqOeOsCDCtyDmnaHlvaLlm74iLCJiYWNrZ3JvdW5kIjoiI2ZmZmZmZiIsIm9iamVjdHMiOlt7ImlkIjoidGl0bGUtMSIsInJvdGF0aW9uIjowLjAsIm9wYWNpdHkiOjEuMCwic3Ryb2tlIjoiIzIwMmIzYSIsInN0cm9rZVdpZHRoIjowLjAsImtpbmQiOiJ0ZXh0IiwieCI6NTQuMCwieSI6MzIuMCwid2lkdGgiOjg1MC4wLCJoZWlnaHQiOjUwLjAsImZpbGwiOiIjMjAzMzRkIiwidGV4dCI6IuWto+W6puS4muWKoeihqOeOsCDCtyDmnaHlvaLlm74iLCJmb250U2l6ZSI6MzAuMH0seyJjaGFydCI6eyJraW5kIjoiYmFyIiwidGl0bGUiOiIiLCJjYXRlZ29yaWVzIjpbIuesrOS4gOWto+W6piIsIuesrOS6jOWto+W6piIsIuesrOS4ieWto+W6piIsIuesrOWbm+Wto+W6piJdLCJzZXJpZXMiOlt7Im5hbWUiOiLmlLblhaUiLCJ2YWx1ZXMiOls0Mi4wLDU4LjAsNzIuMCw5MS4wXSwieCI6W119XSwibGVnZW5kIjp0cnVlLCJncmlkIjp0cnVlLCJsYWJlbHMiOnRydWUsInhfdGl0bGUiOiIiLCJ5X3RpdGxlIjoiIiwidW5pdCI6IiDkuIflhYMiLCJtaW5pbXVtIjpudWxsLCJtYXhpbXVtIjpudWxsLCJjb2xvcnMiOlsiIzQ0NzJjNCIsIiNlZDdkMzEiLCIjYTVhNWE1IiwiI2ZmYzAwMCIsIiM1YjliZDUiLCIjNzBhZDQ3Il19LCJpZCI6ImNvbnRlbnQtMSIsInJvdGF0aW9uIjowLjAsIm9wYWNpdHkiOjEuMCwic3Ryb2tlIjoiIzIwMmIzYSIsInN0cm9rZVdpZHRoIjowLjAsImtpbmQiOiJjaGFydCIsIngiOjc0LjAsInkiOjEyMi4wLCJ3aWR0aCI6ODEyLjAsImhlaWdodCI6MzMwLjAsImZpbGwiOiIjMjdiNmE3IiwidGV4dCI6IiIsImZvbnRTaXplIjoyNC4wfSx7ImlkIjoiZm9vdGVyLTEiLCJyb3RhdGlvbiI6MC4wLCJvcGFjaXR5IjoxLjAsInN0cm9rZSI6IiMyMDJiM2EiLCJzdHJva2VXaWR0aCI6MC4wLCJraW5kIjoidGV4dCIsIngiOjU0LjAsInkiOjQ5MC4wLCJ3aWR0aCI6ODUwLjAsImhlaWdodCI6MjUuMCwiZmlsbCI6IiM3Nzc3NzciLCJ0ZXh0IjoiRlkgMjAyNiAgICAvICAgIEpveURlY2sg5Y6f5Yib5byA5Y+R6aqM6K+B5qC35L6LIiwiZm9udFNpemUiOjEzLjB9XX0seyJsYXlvdXQiOm51bGwsImluaGVyaXRfYmFja2dyb3VuZCI6ZmFsc2UsIm5vdGVzIjoi56eB5a+G5ryU6K6y6ICF5aSH5rOo77ya56ysM+mhte+8jOS7heWcqOa8lOekuuiAheeql+WPo+WPr+ingeOAgiIsInNlY3Rpb24iOm51bGwsImhpZGRlbiI6ZmFsc2UsImlkIjoicGFnZS0yIiwidGl0bGUiOiLlraPluqbkuJrliqHooajnjrAgwrcg5oqY57q/5Zu+IiwiYmFja2dyb3VuZCI6IiNmZmZmZmYiLCJvYmplY3RzIjpbeyJpZCI6InRpdGxlLTIiLCJyb3RhdGlvbiI6MC4wLCJvcGFjaXR5IjoxLjAsInN0cm9rZSI6IiMyMDJiM2EiLCJzdHJva2VXaWR0aCI6MC4wLCJraW5kIjoidGV4dCIsIngiOjU0LjAsInkiOjMyLjAsIndpZHRoIjo4NTAuMCwiaGVpZ2h0Ijo1MC4wLCJmaWxsIjoiIzIwMzM0ZCIsInRleHQiOiLlraPluqbkuJrliqHooajnjrAgwrcg5oqY57q/5Zu+IiwiZm9udFNpemUiOjMwLjB9LHsiY2hhcnQiOnsia2luZCI6ImxpbmUiLCJ0aXRsZSI6IiIsImNhdGVnb3JpZXMiOlsi56ys5LiA5a2j5bqmIiwi56ys5LqM5a2j5bqmIiwi56ys5LiJ5a2j5bqmIiwi56ys5Zub5a2j5bqmIl0sInNlcmllcyI6W3sibmFtZSI6IuaUtuWFpSIsInZhbHVlcyI6WzQyLjAsNTguMCw3Mi4wLDkxLjBdLCJ4IjpbXX1dLCJsZWdlbmQiOnRydWUsImdyaWQiOnRydWUsImxhYmVscyI6dHJ1ZSwieF90aXRsZSI6IiIsInlfdGl0bGUiOiIiLCJ1bml0IjoiIOS4h+WFgyIsIm1pbmltdW0iOm51bGwsIm1heGltdW0iOm51bGwsImNvbG9ycyI6WyIjNDQ3MmM0IiwiI2VkN2QzMSIsIiNhNWE1YTUiLCIjZmZjMDAwIiwiIzViOWJkNSIsIiM3MGFkNDciXX0sImlkIjoiY29udGVudC0yIiwicm90YXRpb24iOjAuMCwib3BhY2l0eSI6MS4wLCJzdHJva2UiOiIjMjAyYjNhIiwic3Ryb2tlV2lkdGgiOjAuMCwia2luZCI6ImNoYXJ0IiwieCI6NzQuMCwieSI6MTIyLjAsIndpZHRoIjo4MTIuMCwiaGVpZ2h0IjozMzAuMCwiZmlsbCI6IiMyN2I2YTciLCJ0ZXh0IjoiIiwiZm9udFNpemUiOjI0LjB9LHsiaWQiOiJmb290ZXItMiIsInJvdGF0aW9uIjowLjAsIm9wYWNpdHkiOjEuMCwic3Ryb2tlIjoiIzIwMmIzYSIsInN0cm9rZVdpZHRoIjowLjAsImtpbmQiOiJ0ZXh0IiwieCI6NTQuMCwieSI6NDkwLjAsIndpZHRoIjo4NTAuMCwiaGVpZ2h0IjoyNS4wLCJmaWxsIjoiIzc3Nzc3NyIsInRleHQiOiJGWSAyMDI2ICAgIC8gICAgSm95RGVjayDljp/liJvlvIDlj5Hpqozor4HmoLfkvosiLCJmb250U2l6ZSI6MTMuMH1dfSx7ImxheW91dCI6bnVsbCwiaW5oZXJpdF9iYWNrZ3JvdW5kIjpmYWxzZSwibm90ZXMiOiLnp4Hlr4bmvJTorrLogIXlpIfms6jvvJrnrKw06aG177yM5LuF5Zyo5ryU56S66ICF56qX5Y+j5Y+v6KeB44CCIiwic2VjdGlvbiI6bnVsbCwiaGlkZGVuIjpmYWxzZSwiaWQiOiJwYWdlLTMiLCJ0aXRsZSI6IuWto+W6puS4muWKoeihqOeOsCDCtyDppbzlm74iLCJiYWNrZ3JvdW5kIjoiI2ZmZmZmZiIsIm9iamVjdHMiOlt7ImlkIjoidGl0bGUtMyIsInJvdGF0aW9uIjowLjAsIm9wYWNpdHkiOjEuMCwic3Ryb2tlIjoiIzIwMmIzYSIsInN0cm9rZVdpZHRoIjowLjAsImtpbmQiOiJ0ZXh0IiwieCI6NTQuMCwieSI6MzIuMCwid2lkdGgiOjg1MC4wLCJoZWlnaHQiOjUwLjAsImZpbGwiOiIjMjAzMzRkIiwidGV4dCI6IuWto+W6puS4muWKoeihqOeOsCDCtyDppbzlm74iLCJmb250U2l6ZSI6MzAuMH0seyJjaGFydCI6eyJraW5kIjoicGllIiwidGl0bGUiOiIiLCJjYXRlZ29yaWVzIjpbIuesrOS4gOWto+W6piIsIuesrOS6jOWto+W6piIsIuesrOS4ieWto+W6piIsIuesrOWbm+Wto+W6piJdLCJzZXJpZXMiOlt7Im5hbWUiOiLmlLblhaUiLCJ2YWx1ZXMiOls0Mi4wLDU4LjAsNzIuMCw5MS4wXSwieCI6W119XSwibGVnZW5kIjp0cnVlLCJncmlkIjp0cnVlLCJsYWJlbHMiOnRydWUsInhfdGl0bGUiOiIiLCJ5X3RpdGxlIjoiIiwidW5pdCI6IiDkuIflhYMiLCJtaW5pbXVtIjpudWxsLCJtYXhpbXVtIjpudWxsLCJjb2xvcnMiOlsiIzQ0NzJjNCIsIiNlZDdkMzEiLCIjYTVhNWE1IiwiI2ZmYzAwMCIsIiM1YjliZDUiLCIjNzBhZDQ3Il19LCJpZCI6ImNvbnRlbnQtMyIsInJvdGF0aW9uIjowLjAsIm9wYWNpdHkiOjEuMCwic3Ryb2tlIjoiIzIwMmIzYSIsInN0cm9rZVdpZHRoIjowLjAsImtpbmQiOiJjaGFydCIsIngiOjc0LjAsInkiOjEyMi4wLCJ3aWR0aCI6ODEyLjAsImhlaWdodCI6MzMwLjAsImZpbGwiOiIjMjdiNmE3IiwidGV4dCI6IiIsImZvbnRTaXplIjoyNC4wfSx7ImlkIjoiZm9vdGVyLTMiLCJyb3RhdGlvbiI6MC4wLCJvcGFjaXR5IjoxLjAsInN0cm9rZSI6IiMyMDJiM2EiLCJzdHJva2VXaWR0aCI6MC4wLCJraW5kIjoidGV4dCIsIngiOjU0LjAsInkiOjQ5MC4wLCJ3aWR0aCI6ODUwLjAsImhlaWdodCI6MjUuMCwiZmlsbCI6IiM3Nzc3NzciLCJ0ZXh0IjoiRlkgMjAyNiAgICAvICAgIEpveURlY2sg5Y6f5Yib5byA5Y+R6aqM6K+B5qC35L6LIiwiZm9udFNpemUiOjEzLjB9XX0seyJsYXlvdXQiOm51bGwsImluaGVyaXRfYmFja2dyb3VuZCI6ZmFsc2UsIm5vdGVzIjoi56eB5a+G5ryU6K6y6ICF5aSH5rOo77ya56ysNemhte+8jOS7heWcqOa8lOekuuiAheeql+WPo+WPr+ingeOAgiIsInNlY3Rpb24iOm51bGwsImhpZGRlbiI6ZmFsc2UsImlkIjoicGFnZS00IiwidGl0bGUiOiLlraPluqbkuJrliqHooajnjrAgwrcg5pWj54K55Zu+IiwiYmFja2dyb3VuZCI6IiNmZmZmZmYiLCJvYmplY3RzIjpbeyJpZCI6InRpdGxlLTQiLCJyb3RhdGlvbiI6MC4wLCJvcGFjaXR5IjoxLjAsInN0cm9rZSI6IiMyMDJiM2EiLCJzdHJva2VXaWR0aCI6MC4wLCJraW5kIjoidGV4dCIsIngiOjU0LjAsInkiOjMyLjAsIndpZHRoIjo4NTAuMCwiaGVpZ2h0Ijo1MC4wLCJmaWxsIjoiIzIwMzM0ZCIsInRleHQiOiLlraPluqbkuJrliqHooajnjrAgwrcg5pWj54K55Zu+IiwiZm9udFNpemUiOjMwLjB9LHsiY2hhcnQiOnsia2luZCI6InNjYXR0ZXIiLCJ0aXRsZSI6IiIsImNhdGVnb3JpZXMiOlsi56ys5LiA5a2j5bqmIiwi56ys5LqM5a2j5bqmIiwi56ys5LiJ5a2j5bqmIiwi56ys5Zub5a2j5bqmIl0sInNlcmllcyI6W3sibmFtZSI6IuaUtuWFpSIsInZhbHVlcyI6WzQyLjAsNTguMCw3Mi4wLDkxLjBdLCJ4IjpbMS4wLDMuMCw3LjAsMTIuMF19XSwibGVnZW5kIjp0cnVlLCJncmlkIjp0cnVlLCJsYWJlbHMiOnRydWUsInhfdGl0bGUiOiLmipXlhaUiLCJ5X3RpdGxlIjoiIiwidW5pdCI6IiDkuIflhYMiLCJtaW5pbXVtIjpudWxsLCJtYXhpbXVtIjpudWxsLCJjb2xvcnMiOlsiIzQ0NzJjNCIsIiNlZDdkMzEiLCIjYTVhNWE1IiwiI2ZmYzAwMCIsIiM1YjliZDUiLCIjNzBhZDQ3Il19LCJpZCI6ImNvbnRlbnQtNCIsInJvdGF0aW9uIjowLjAsIm9wYWNpdHkiOjEuMCwic3Ryb2tlIjoiIzIwMmIzYSIsInN0cm9rZVdpZHRoIjowLjAsImtpbmQiOiJjaGFydCIsIngiOjc0LjAsInkiOjEyMi4wLCJ3aWR0aCI6ODEyLjAsImhlaWdodCI6MzMwLjAsImZpbGwiOiIjMjdiNmE3IiwidGV4dCI6IiIsImZvbnRTaXplIjoyNC4wfSx7ImlkIjoiZm9vdGVyLTQiLCJyb3RhdGlvbiI6MC4wLCJvcGFjaXR5IjoxLjAsInN0cm9rZSI6IiMyMDJiM2EiLCJzdHJva2VXaWR0aCI6MC4wLCJraW5kIjoidGV4dCIsIngiOjU0LjAsInkiOjQ5MC4wLCJ3aWR0aCI6ODUwLjAsImhlaWdodCI6MjUuMCwiZmlsbCI6IiM3Nzc3NzciLCJ0ZXh0IjoiRlkgMjAyNiAgICAvICAgIEpveURlY2sg5Y6f5Yib5byA5Y+R6aqM6K+B5qC35L6LIiwiZm9udFNpemUiOjEzLjB9XX0seyJsYXlvdXQiOm51bGwsImluaGVyaXRfYmFja2dyb3VuZCI6ZmFsc2UsIm5vdGVzIjoi56eB5a+G5ryU6K6y6ICF5aSH5rOo77ya56ysNumhte+8jOS7heWcqOa8lOekuuiAheeql+WPo+WPr+ingeOAgiIsInNlY3Rpb24iOm51bGwsImhpZGRlbiI6ZmFsc2UsImlkIjoicGFnZS01IiwidGl0bGUiOiLku47orqHliJLliLDmiJDmnpwiLCJiYWNrZ3JvdW5kIjoiI2ZmZmZmZiIsIm9iamVjdHMiOlt7ImlkIjoidGl0bGUtNSIsInJvdGF0aW9uIjowLjAsIm9wYWNpdHkiOjEuMCwic3Ryb2tlIjoiIzIwMmIzYSIsInN0cm9rZVdpZHRoIjowLjAsImtpbmQiOiJ0ZXh0IiwieCI6NTQuMCwieSI6MzIuMCwid2lkdGgiOjg1MC4wLCJoZWlnaHQiOjUwLjAsImZpbGwiOiIjMjAzMzRkIiwidGV4dCI6IuS7juiuoeWIkuWIsOaIkOaenCIsImZvbnRTaXplIjozMC4wfSx7ImRpYWdyYW0iOnsibGF5b3V0IjoicHJvY2VzcyIsIm5vZGVzIjpbeyJpZCI6Im5vZGUtMCIsInRleHQiOiLliLblrprorqHliJIiLCJwYXJlbnQiOm51bGx9LHsiaWQiOiJub2RlLTEiLCJ0ZXh0Ijoi57uE57uH5a6e5pa9IiwicGFyZW50IjpudWxsfSx7ImlkIjoibm9kZS0yIiwidGV4dCI6IuivhOS8sOS8mOWMliIsInBhcmVudCI6bnVsbH1dLCJjb2xvciI6IiM0NDcyYzQifSwiaWQiOiJjb250ZW50LTUiLCJyb3RhdGlvbiI6MC4wLCJvcGFjaXR5IjoxLjAsInN0cm9rZSI6IiMyMDJiM2EiLCJzdHJva2VXaWR0aCI6MC4wLCJraW5kIjoiZGlhZ3JhbSIsIngiOjc0LjAsInkiOjEyMi4wLCJ3aWR0aCI6ODEyLjAsImhlaWdodCI6MzMwLjAsImZpbGwiOiIjMjdiNmE3IiwidGV4dCI6IiIsImZvbnRTaXplIjoyNC4wfSx7ImlkIjoiZm9vdGVyLTUiLCJyb3RhdGlvbiI6MC4wLCJvcGFjaXR5IjoxLjAsInN0cm9rZSI6IiMyMDJiM2EiLCJzdHJva2VXaWR0aCI6MC4wLCJraW5kIjoidGV4dCIsIngiOjU0LjAsInkiOjQ5MC4wLCJ3aWR0aCI6ODUwLjAsImhlaWdodCI6MjUuMCwiZmlsbCI6IiM3Nzc3NzciLCJ0ZXh0IjoiRlkgMjAyNiAgICAvICAgIEpveURlY2sg5Y6f5Yib5byA5Y+R6aqM6K+B5qC35L6LIiwiZm9udFNpemUiOjEzLjB9XX0seyJsYXlvdXQiOm51bGwsImluaGVyaXRfYmFja2dyb3VuZCI6ZmFsc2UsIm5vdGVzIjoi56eB5a+G5ryU6K6y6ICF5aSH5rOo77ya56ysN+mhte+8jOS7heWcqOa8lOekuuiAheeql+WPo+WPr+ingeOAgiIsInNlY3Rpb24iOm51bGwsImhpZGRlbiI6ZmFsc2UsImlkIjoicGFnZS02IiwidGl0bGUiOiLku47orqHliJLliLDmiJDmnpwiLCJiYWNrZ3JvdW5kIjoiI2ZmZmZmZiIsIm9iamVjdHMiOlt7ImlkIjoidGl0bGUtNiIsInJvdGF0aW9uIjowLjAsIm9wYWNpdHkiOjEuMCwic3Ryb2tlIjoiIzIwMmIzYSIsInN0cm9rZVdpZHRoIjowLjAsImtpbmQiOiJ0ZXh0IiwieCI6NTQuMCwieSI6MzIuMCwid2lkdGgiOjg1MC4wLCJoZWlnaHQiOjUwLjAsImZpbGwiOiIjMjAzMzRkIiwidGV4dCI6IuS7juiuoeWIkuWIsOaIkOaenCIsImZvbnRTaXplIjozMC4wfSx7ImRpYWdyYW0iOnsibGF5b3V0IjoiaGllcmFyY2h5Iiwibm9kZXMiOlt7ImlkIjoibm9kZS0wIiwidGV4dCI6IuS4muWKoeiuoeWIkiIsInBhcmVudCI6bnVsbH0seyJpZCI6Im5vZGUtMSIsInRleHQiOiLlrqLmiLflop7plb8iLCJwYXJlbnQiOiJub2RlLTAifSx7ImlkIjoibm9kZS0yIiwidGV4dCI6IuWuouaIt+S9k+mqjCIsInBhcmVudCI6Im5vZGUtMSJ9LHsiaWQiOiJub2RlLTMiLCJ0ZXh0Ijoi5Lqn5ZOB6L+t5LujIiwicGFyZW50Ijoibm9kZS0wIn1dLCJjb2xvciI6IiM0NDcyYzQifSwiaWQiOiJjb250ZW50LTYiLCJyb3RhdGlvbiI6MC4wLCJvcGFjaXR5IjoxLjAsInN0cm9rZSI6IiMyMDJiM2EiLCJzdHJva2VXaWR0aCI6MC4wLCJraW5kIjoiZGlhZ3JhbSIsIngiOjc0LjAsInkiOjEyMi4wLCJ3aWR0aCI6ODEyLjAsImhlaWdodCI6MzMwLjAsImZpbGwiOiIjMjdiNmE3IiwidGV4dCI6IiIsImZvbnRTaXplIjoyNC4wfSx7ImlkIjoiZm9vdGVyLTYiLCJyb3RhdGlvbiI6MC4wLCJvcGFjaXR5IjoxLjAsInN0cm9rZSI6IiMyMDJiM2EiLCJzdHJva2VXaWR0aCI6MC4wLCJraW5kIjoidGV4dCIsIngiOjU0LjAsInkiOjQ5MC4wLCJ3aWR0aCI6ODUwLjAsImhlaWdodCI6MjUuMCwiZmlsbCI6IiM3Nzc3NzciLCJ0ZXh0IjoiRlkgMjAyNiAgICAvICAgIEpveURlY2sg5Y6f5Yib5byA5Y+R6aqM6K+B5qC35L6LIiwiZm9udFNpemUiOjEzLjB9XX1dfQ==</jd:document>
</file>

<file path=customXml/itemProps1.xml><?xml version="1.0" encoding="utf-8"?>
<ds:datastoreItem xmlns:ds="http://schemas.openxmlformats.org/officeDocument/2006/customXml" ds:itemID="{2687B509-8871-BB4F-9B6F-31B9F1DB06BC}">
  <ds:schemaRefs>
    <ds:schemaRef ds:uri="urn:joydeck:interop: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221</Words>
  <Application>Microsoft Macintosh PowerPoint</Application>
  <PresentationFormat>宽屏</PresentationFormat>
  <Paragraphs>29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9" baseType="lpstr">
      <vt:lpstr>sans-serif</vt:lpstr>
      <vt:lpstr>JoyDeck Original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Weimu Ma 马伟木</cp:lastModifiedBy>
  <cp:revision>2</cp:revision>
  <dcterms:modified xsi:type="dcterms:W3CDTF">2026-10-30T10:51:36Z</dcterms:modified>
</cp:coreProperties>
</file>